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My name is [Your Name], and today I'll be presenting my coursework project for the XJCO3011 module. The project is a RESTful API for managing book information, built using FastAPI and SQLite. Let's get started.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primary problem I aimed to solve was the lack of a simple, unified API for accessing structured book data. Therefore, my goal was to create a robust and scalable RESTful API that not only allows basic CRUD operations but also provides advanced features like filtering and statistics, while ensuring a good developer experience.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foundation of this project is the Goodreads books dataset from Kaggle, containing about 11,000 book entries. I performed several cleaning steps, including type conversion, handling missing values, and removing duplicates, to ensure the data was reliable and ready for use in the API.</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For the tech stack, I chose FastAPI for its speed and automatic documentation features. SQLite was the perfect database choice for this coursework due to its simplicity and ease of setup. Finally, Pydantic was used for robust data validation, ensuring the API receives and returns data in the correct format.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follows a clean, layered architecture. Incoming requests hit the route handlers, which then call the service layer for business logic. The service layer interacts with the database via SQLAlchemy models. This separation of concerns ensures the application is maintainable and scalable.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core database model is the 'Book' entity. It includes essential fields like title, authors, and average rating. I've also added database indexes on the 'title' and 'average_rating' columns to significantly improve the performance of search and sort operations.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implements all core CRUD operations. Each endpoint returns a consistent JSON response format, making it easy for clients to handle both successful and error cases. For example, creating a book returns a 201 status code, while a successful update returns 200.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Building on the core CRUD, version 3 introduced advanced querying capabilities. Users can now paginate results, filter by author, and sort by fields like average rating. The list response is also enriched with metadata like total items and current page number for a better client experience.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Version 4 focused on polishing the API and improving performance. This included adding a search endpoint, statistical endpoints for insights like average rating, API key security to protect the API, and comprehensive logging to monitor usage and performance.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Testing was a crucial part of development. I primarily used the built-in Swagger UI for interactive testing. I also documented a manual test guide covering key scenarios, including authentication failures, validation errors, and the complete CRUD lifecycle to ensure the API's reliability.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project was developed iteratively, with clear version control. Starting from a basic MVP in V1, I progressively added features in V2, V3, and V4. This approach allowed me to build a solid foundation and incrementally add complexity while maintaining a clean commit history on GitHub.</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conclude, the project includes several key deliverables: a public GitHub repository with all code, comprehensive API documentation in PDF, a detailed technical report, and clear instructions on how to run the API. Thank you for your time. I'm now ready to answer any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0" Type="http://schemas.openxmlformats.org/officeDocument/2006/relationships/notesSlide" Target="../notesSlides/notesSlide3.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s>
</file>

<file path=ppt/slides/_rels/slide5.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svg"/><Relationship Id="rId7" Type="http://schemas.openxmlformats.org/officeDocument/2006/relationships/image" Target="../media/image33.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6" Type="http://schemas.openxmlformats.org/officeDocument/2006/relationships/notesSlide" Target="../notesSlides/notesSlide5.xml"/><Relationship Id="rId15" Type="http://schemas.openxmlformats.org/officeDocument/2006/relationships/slideLayout" Target="../slideLayouts/slideLayout12.xml"/><Relationship Id="rId14" Type="http://schemas.openxmlformats.org/officeDocument/2006/relationships/image" Target="../media/image40.svg"/><Relationship Id="rId13" Type="http://schemas.openxmlformats.org/officeDocument/2006/relationships/image" Target="../media/image39.png"/><Relationship Id="rId12" Type="http://schemas.openxmlformats.org/officeDocument/2006/relationships/image" Target="../media/image38.svg"/><Relationship Id="rId11" Type="http://schemas.openxmlformats.org/officeDocument/2006/relationships/image" Target="../media/image37.png"/><Relationship Id="rId10" Type="http://schemas.openxmlformats.org/officeDocument/2006/relationships/image" Target="../media/image36.svg"/><Relationship Id="rId1" Type="http://schemas.openxmlformats.org/officeDocument/2006/relationships/image" Target="../media/image2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6.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4" Type="http://schemas.openxmlformats.org/officeDocument/2006/relationships/notesSlide" Target="../notesSlides/notesSlide7.xml"/><Relationship Id="rId13" Type="http://schemas.openxmlformats.org/officeDocument/2006/relationships/slideLayout" Target="../slideLayouts/slideLayout12.xml"/><Relationship Id="rId12" Type="http://schemas.openxmlformats.org/officeDocument/2006/relationships/image" Target="../media/image52.png"/><Relationship Id="rId11" Type="http://schemas.openxmlformats.org/officeDocument/2006/relationships/image" Target="../media/image51.png"/><Relationship Id="rId10" Type="http://schemas.openxmlformats.org/officeDocument/2006/relationships/image" Target="../media/image50.svg"/><Relationship Id="rId1" Type="http://schemas.openxmlformats.org/officeDocument/2006/relationships/image" Target="../media/image41.png"/></Relationships>
</file>

<file path=ppt/slides/_rels/slide8.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 Id="rId3" Type="http://schemas.openxmlformats.org/officeDocument/2006/relationships/image" Target="../media/image55.png"/><Relationship Id="rId2" Type="http://schemas.openxmlformats.org/officeDocument/2006/relationships/image" Target="../media/image54.sv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60.png"/><Relationship Id="rId1" Type="http://schemas.openxmlformats.org/officeDocument/2006/relationships/image" Target="../media/image53.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44.svg"/><Relationship Id="rId10" Type="http://schemas.openxmlformats.org/officeDocument/2006/relationships/notesSlide" Target="../notesSlides/notesSlide9.xml"/><Relationship Id="rId1" Type="http://schemas.openxmlformats.org/officeDocument/2006/relationships/image" Target="../media/image43.png"/></Relationships>
</file>

<file path=ppt/slides/_rels/slide10.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74.svg"/><Relationship Id="rId7" Type="http://schemas.openxmlformats.org/officeDocument/2006/relationships/image" Target="../media/image73.png"/><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 Id="rId3" Type="http://schemas.openxmlformats.org/officeDocument/2006/relationships/image" Target="../media/image69.png"/><Relationship Id="rId2" Type="http://schemas.openxmlformats.org/officeDocument/2006/relationships/image" Target="../media/image68.svg"/><Relationship Id="rId14" Type="http://schemas.openxmlformats.org/officeDocument/2006/relationships/notesSlide" Target="../notesSlides/notesSlide10.xml"/><Relationship Id="rId13" Type="http://schemas.openxmlformats.org/officeDocument/2006/relationships/slideLayout" Target="../slideLayouts/slideLayout12.xml"/><Relationship Id="rId12" Type="http://schemas.openxmlformats.org/officeDocument/2006/relationships/image" Target="../media/image76.svg"/><Relationship Id="rId11" Type="http://schemas.openxmlformats.org/officeDocument/2006/relationships/image" Target="../media/image75.png"/><Relationship Id="rId10" Type="http://schemas.openxmlformats.org/officeDocument/2006/relationships/image" Target="../media/image44.svg"/><Relationship Id="rId1" Type="http://schemas.openxmlformats.org/officeDocument/2006/relationships/image" Target="../media/image67.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4.svg"/><Relationship Id="rId7" Type="http://schemas.openxmlformats.org/officeDocument/2006/relationships/image" Target="../media/image83.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 Type="http://schemas.openxmlformats.org/officeDocument/2006/relationships/image" Target="../media/image78.svg"/><Relationship Id="rId10" Type="http://schemas.openxmlformats.org/officeDocument/2006/relationships/notesSlide" Target="../notesSlides/notesSlide11.xml"/><Relationship Id="rId1" Type="http://schemas.openxmlformats.org/officeDocument/2006/relationships/image" Target="../media/image77.png"/></Relationships>
</file>

<file path=ppt/slides/_rels/slide12.xml.rels><?xml version="1.0" encoding="UTF-8" standalone="yes"?>
<Relationships xmlns="http://schemas.openxmlformats.org/package/2006/relationships"><Relationship Id="rId9" Type="http://schemas.openxmlformats.org/officeDocument/2006/relationships/image" Target="../media/image91.png"/><Relationship Id="rId8" Type="http://schemas.openxmlformats.org/officeDocument/2006/relationships/image" Target="../media/image90.svg"/><Relationship Id="rId7" Type="http://schemas.openxmlformats.org/officeDocument/2006/relationships/image" Target="../media/image89.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8.svg"/><Relationship Id="rId3" Type="http://schemas.openxmlformats.org/officeDocument/2006/relationships/image" Target="../media/image87.png"/><Relationship Id="rId2" Type="http://schemas.openxmlformats.org/officeDocument/2006/relationships/image" Target="../media/image86.sv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905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A314D"/>
                </a:solidFill>
                <a:latin typeface="Poppins"/>
                <a:ea typeface="Poppins"/>
                <a:cs typeface="Poppins"/>
                <a:sym typeface="Poppins"/>
              </a:rPr>
              <a:t>Books API Coursework</a:t>
            </a:r>
            <a:endParaRPr lang="en-US" sz="1100"/>
          </a:p>
        </p:txBody>
      </p:sp>
      <p:sp>
        <p:nvSpPr>
          <p:cNvPr id="3" name="AutoShape 3"/>
          <p:cNvSpPr/>
          <p:nvPr/>
        </p:nvSpPr>
        <p:spPr>
          <a:xfrm>
            <a:off x="0" y="304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333333"/>
                </a:solidFill>
                <a:latin typeface="Poppins"/>
                <a:ea typeface="Poppins"/>
                <a:cs typeface="Poppins"/>
                <a:sym typeface="Poppins"/>
              </a:rPr>
              <a:t>A RESTful API for Book Information</a:t>
            </a:r>
            <a:endParaRPr lang="en-US" sz="1100"/>
          </a:p>
        </p:txBody>
      </p:sp>
      <p:sp>
        <p:nvSpPr>
          <p:cNvPr id="4" name="AutoShape 4"/>
          <p:cNvSpPr/>
          <p:nvPr/>
        </p:nvSpPr>
        <p:spPr>
          <a:xfrm>
            <a:off x="762000" y="4445000"/>
            <a:ext cx="3302000" cy="1524000"/>
          </a:xfrm>
          <a:prstGeom prst="roundRect">
            <a:avLst>
              <a:gd name="adj" fmla="val 10000"/>
            </a:avLst>
          </a:prstGeom>
          <a:solidFill>
            <a:srgbClr val="0A314D">
              <a:alpha val="6000"/>
            </a:srgbClr>
          </a:solidFill>
          <a:ln cap="flat" cmpd="sng">
            <a:solidFill>
              <a:srgbClr val="021F34">
                <a:alpha val="6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4699000"/>
            <a:ext cx="330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spc="100">
                <a:solidFill>
                  <a:srgbClr val="0A314D"/>
                </a:solidFill>
                <a:latin typeface="Poppins"/>
                <a:ea typeface="Poppins"/>
                <a:cs typeface="Poppins"/>
                <a:sym typeface="Poppins"/>
              </a:rPr>
              <a:t>STUDENT NAME</a:t>
            </a:r>
            <a:endParaRPr lang="en-US" sz="1100"/>
          </a:p>
        </p:txBody>
      </p:sp>
      <p:sp>
        <p:nvSpPr>
          <p:cNvPr id="6" name="AutoShape 6"/>
          <p:cNvSpPr/>
          <p:nvPr/>
        </p:nvSpPr>
        <p:spPr>
          <a:xfrm>
            <a:off x="762000" y="5207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66666"/>
                </a:solidFill>
                <a:latin typeface="Poppins"/>
                <a:ea typeface="Poppins"/>
                <a:cs typeface="Poppins"/>
                <a:sym typeface="Poppins"/>
              </a:rPr>
              <a:t>[Lu Yulin]</a:t>
            </a:r>
            <a:endParaRPr lang="en-US" sz="1100"/>
          </a:p>
        </p:txBody>
      </p:sp>
      <p:sp>
        <p:nvSpPr>
          <p:cNvPr id="7" name="AutoShape 7"/>
          <p:cNvSpPr/>
          <p:nvPr/>
        </p:nvSpPr>
        <p:spPr>
          <a:xfrm>
            <a:off x="4445000" y="4445000"/>
            <a:ext cx="3302000" cy="1524000"/>
          </a:xfrm>
          <a:prstGeom prst="roundRect">
            <a:avLst>
              <a:gd name="adj" fmla="val 10000"/>
            </a:avLst>
          </a:prstGeom>
          <a:solidFill>
            <a:srgbClr val="0A314D">
              <a:alpha val="6000"/>
            </a:srgbClr>
          </a:solidFill>
          <a:ln cap="flat" cmpd="sng">
            <a:solidFill>
              <a:srgbClr val="021F34">
                <a:alpha val="6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445000" y="4699000"/>
            <a:ext cx="330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spc="100">
                <a:solidFill>
                  <a:srgbClr val="0A314D"/>
                </a:solidFill>
                <a:latin typeface="Poppins"/>
                <a:ea typeface="Poppins"/>
                <a:cs typeface="Poppins"/>
                <a:sym typeface="Poppins"/>
              </a:rPr>
              <a:t>MODULE DETAILS</a:t>
            </a:r>
            <a:endParaRPr lang="en-US" sz="1100"/>
          </a:p>
        </p:txBody>
      </p:sp>
      <p:sp>
        <p:nvSpPr>
          <p:cNvPr id="9" name="AutoShape 9"/>
          <p:cNvSpPr/>
          <p:nvPr/>
        </p:nvSpPr>
        <p:spPr>
          <a:xfrm>
            <a:off x="4445000" y="52070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300" b="0" i="0" u="none" strike="noStrike">
                <a:solidFill>
                  <a:srgbClr val="666666"/>
                </a:solidFill>
                <a:latin typeface="Poppins"/>
                <a:ea typeface="Poppins"/>
                <a:cs typeface="Poppins"/>
                <a:sym typeface="Poppins"/>
              </a:rPr>
              <a:t>XJCO3011</a:t>
            </a:r>
            <a:br>
              <a:rPr lang="en-US" sz="1300" b="0" i="0" u="none" strike="noStrike">
                <a:solidFill>
                  <a:srgbClr val="666666"/>
                </a:solidFill>
                <a:latin typeface="Poppins"/>
                <a:ea typeface="Poppins"/>
                <a:cs typeface="Poppins"/>
                <a:sym typeface="Poppins"/>
              </a:rPr>
            </a:br>
            <a:r>
              <a:rPr lang="en-US" sz="1300" b="0" i="0" u="none" strike="noStrike">
                <a:solidFill>
                  <a:srgbClr val="666666"/>
                </a:solidFill>
                <a:latin typeface="Poppins"/>
                <a:ea typeface="Poppins"/>
                <a:cs typeface="Poppins"/>
                <a:sym typeface="Poppins"/>
              </a:rPr>
              <a:t>Web Services &amp; Web Data</a:t>
            </a:r>
            <a:endParaRPr lang="en-US" sz="1100"/>
          </a:p>
        </p:txBody>
      </p:sp>
      <p:sp>
        <p:nvSpPr>
          <p:cNvPr id="10" name="AutoShape 10"/>
          <p:cNvSpPr/>
          <p:nvPr/>
        </p:nvSpPr>
        <p:spPr>
          <a:xfrm>
            <a:off x="8128000" y="4445000"/>
            <a:ext cx="3302000" cy="1524000"/>
          </a:xfrm>
          <a:prstGeom prst="roundRect">
            <a:avLst>
              <a:gd name="adj" fmla="val 10000"/>
            </a:avLst>
          </a:prstGeom>
          <a:solidFill>
            <a:srgbClr val="0A314D">
              <a:alpha val="6000"/>
            </a:srgbClr>
          </a:solidFill>
          <a:ln cap="flat" cmpd="sng">
            <a:solidFill>
              <a:srgbClr val="021F34">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128000" y="4699000"/>
            <a:ext cx="330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spc="100">
                <a:solidFill>
                  <a:srgbClr val="0A314D"/>
                </a:solidFill>
                <a:latin typeface="Poppins"/>
                <a:ea typeface="Poppins"/>
                <a:cs typeface="Poppins"/>
                <a:sym typeface="Poppins"/>
              </a:rPr>
              <a:t>SUBMISSION DATE</a:t>
            </a:r>
            <a:endParaRPr lang="en-US" sz="1100"/>
          </a:p>
        </p:txBody>
      </p:sp>
      <p:sp>
        <p:nvSpPr>
          <p:cNvPr id="12" name="AutoShape 12"/>
          <p:cNvSpPr/>
          <p:nvPr/>
        </p:nvSpPr>
        <p:spPr>
          <a:xfrm>
            <a:off x="8128000" y="5207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66666"/>
                </a:solidFill>
                <a:latin typeface="Poppins"/>
                <a:ea typeface="Poppins"/>
                <a:cs typeface="Poppins"/>
                <a:sym typeface="Poppins"/>
              </a:rPr>
              <a:t>[2026/4/27]</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43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Problem &amp; Goal</a:t>
            </a:r>
            <a:endParaRPr lang="en-US" sz="1100"/>
          </a:p>
        </p:txBody>
      </p:sp>
      <p:sp>
        <p:nvSpPr>
          <p:cNvPr id="3" name="AutoShape 3"/>
          <p:cNvSpPr/>
          <p:nvPr/>
        </p:nvSpPr>
        <p:spPr>
          <a:xfrm>
            <a:off x="381000" y="1270000"/>
            <a:ext cx="6604000" cy="952500"/>
          </a:xfrm>
          <a:prstGeom prst="roundRect">
            <a:avLst>
              <a:gd name="adj" fmla="val 13333"/>
            </a:avLst>
          </a:prstGeom>
          <a:solidFill>
            <a:srgbClr val="E8F1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71500" y="1492250"/>
            <a:ext cx="508000" cy="508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3100" y="1593850"/>
            <a:ext cx="304800" cy="304800"/>
          </a:xfrm>
          <a:prstGeom prst="rect">
            <a:avLst/>
          </a:prstGeom>
        </p:spPr>
      </p:pic>
      <p:sp>
        <p:nvSpPr>
          <p:cNvPr id="6" name="AutoShape 6"/>
          <p:cNvSpPr/>
          <p:nvPr/>
        </p:nvSpPr>
        <p:spPr>
          <a:xfrm>
            <a:off x="1270000" y="1397000"/>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Problem</a:t>
            </a:r>
            <a:endParaRPr lang="en-US" sz="1100"/>
          </a:p>
        </p:txBody>
      </p:sp>
      <p:sp>
        <p:nvSpPr>
          <p:cNvPr id="7" name="AutoShape 7"/>
          <p:cNvSpPr/>
          <p:nvPr/>
        </p:nvSpPr>
        <p:spPr>
          <a:xfrm>
            <a:off x="1270000" y="1778000"/>
            <a:ext cx="546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Poppins"/>
                <a:ea typeface="Poppins"/>
                <a:cs typeface="Poppins"/>
                <a:sym typeface="Poppins"/>
              </a:rPr>
              <a:t>Lack of a simple, unified API to access and manage structured book data.</a:t>
            </a:r>
            <a:endParaRPr lang="en-US" sz="1100"/>
          </a:p>
        </p:txBody>
      </p:sp>
      <p:sp>
        <p:nvSpPr>
          <p:cNvPr id="8" name="AutoShape 8"/>
          <p:cNvSpPr/>
          <p:nvPr/>
        </p:nvSpPr>
        <p:spPr>
          <a:xfrm>
            <a:off x="381000" y="2413000"/>
            <a:ext cx="6604000" cy="952500"/>
          </a:xfrm>
          <a:prstGeom prst="roundRect">
            <a:avLst>
              <a:gd name="adj" fmla="val 13333"/>
            </a:avLst>
          </a:prstGeom>
          <a:solidFill>
            <a:srgbClr val="E8F1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71500" y="2635250"/>
            <a:ext cx="508000" cy="508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 y="2736850"/>
            <a:ext cx="304800" cy="304800"/>
          </a:xfrm>
          <a:prstGeom prst="rect">
            <a:avLst/>
          </a:prstGeom>
        </p:spPr>
      </p:pic>
      <p:sp>
        <p:nvSpPr>
          <p:cNvPr id="11" name="AutoShape 11"/>
          <p:cNvSpPr/>
          <p:nvPr/>
        </p:nvSpPr>
        <p:spPr>
          <a:xfrm>
            <a:off x="1270000" y="2540000"/>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Goal</a:t>
            </a:r>
            <a:endParaRPr lang="en-US" sz="1100"/>
          </a:p>
        </p:txBody>
      </p:sp>
      <p:sp>
        <p:nvSpPr>
          <p:cNvPr id="12" name="AutoShape 12"/>
          <p:cNvSpPr/>
          <p:nvPr/>
        </p:nvSpPr>
        <p:spPr>
          <a:xfrm>
            <a:off x="1270000" y="2921000"/>
            <a:ext cx="546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Poppins"/>
                <a:ea typeface="Poppins"/>
                <a:cs typeface="Poppins"/>
                <a:sym typeface="Poppins"/>
              </a:rPr>
              <a:t>Create a robust, scalable, and easy-to-use RESTful API for book information.</a:t>
            </a:r>
            <a:endParaRPr lang="en-US" sz="1100"/>
          </a:p>
        </p:txBody>
      </p:sp>
      <p:sp>
        <p:nvSpPr>
          <p:cNvPr id="13" name="AutoShape 13"/>
          <p:cNvSpPr/>
          <p:nvPr/>
        </p:nvSpPr>
        <p:spPr>
          <a:xfrm>
            <a:off x="381000" y="3556000"/>
            <a:ext cx="6604000" cy="952500"/>
          </a:xfrm>
          <a:prstGeom prst="roundRect">
            <a:avLst>
              <a:gd name="adj" fmla="val 13333"/>
            </a:avLst>
          </a:prstGeom>
          <a:solidFill>
            <a:srgbClr val="E8F1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71500" y="3778250"/>
            <a:ext cx="508000" cy="508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 y="3879850"/>
            <a:ext cx="304800" cy="304800"/>
          </a:xfrm>
          <a:prstGeom prst="rect">
            <a:avLst/>
          </a:prstGeom>
        </p:spPr>
      </p:pic>
      <p:sp>
        <p:nvSpPr>
          <p:cNvPr id="16" name="AutoShape 16"/>
          <p:cNvSpPr/>
          <p:nvPr/>
        </p:nvSpPr>
        <p:spPr>
          <a:xfrm>
            <a:off x="1270000" y="3683000"/>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Core Functionality</a:t>
            </a:r>
            <a:endParaRPr lang="en-US" sz="1100"/>
          </a:p>
        </p:txBody>
      </p:sp>
      <p:sp>
        <p:nvSpPr>
          <p:cNvPr id="17" name="AutoShape 17"/>
          <p:cNvSpPr/>
          <p:nvPr/>
        </p:nvSpPr>
        <p:spPr>
          <a:xfrm>
            <a:off x="1270000" y="4064000"/>
            <a:ext cx="546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Poppins"/>
                <a:ea typeface="Poppins"/>
                <a:cs typeface="Poppins"/>
                <a:sym typeface="Poppins"/>
              </a:rPr>
              <a:t>Enable full CRUD (Create, Read, Update, Delete) operations on a book database.</a:t>
            </a:r>
            <a:endParaRPr lang="en-US" sz="1100"/>
          </a:p>
        </p:txBody>
      </p:sp>
      <p:sp>
        <p:nvSpPr>
          <p:cNvPr id="18" name="AutoShape 18"/>
          <p:cNvSpPr/>
          <p:nvPr/>
        </p:nvSpPr>
        <p:spPr>
          <a:xfrm>
            <a:off x="381000" y="4699000"/>
            <a:ext cx="6604000" cy="952500"/>
          </a:xfrm>
          <a:prstGeom prst="roundRect">
            <a:avLst>
              <a:gd name="adj" fmla="val 13333"/>
            </a:avLst>
          </a:prstGeom>
          <a:solidFill>
            <a:srgbClr val="E8F1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71500" y="4921250"/>
            <a:ext cx="508000" cy="508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 y="5022850"/>
            <a:ext cx="304800" cy="304800"/>
          </a:xfrm>
          <a:prstGeom prst="rect">
            <a:avLst/>
          </a:prstGeom>
        </p:spPr>
      </p:pic>
      <p:sp>
        <p:nvSpPr>
          <p:cNvPr id="21" name="AutoShape 21"/>
          <p:cNvSpPr/>
          <p:nvPr/>
        </p:nvSpPr>
        <p:spPr>
          <a:xfrm>
            <a:off x="1270000" y="4826000"/>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Advanced Features</a:t>
            </a:r>
            <a:endParaRPr lang="en-US" sz="1100"/>
          </a:p>
        </p:txBody>
      </p:sp>
      <p:sp>
        <p:nvSpPr>
          <p:cNvPr id="22" name="AutoShape 22"/>
          <p:cNvSpPr/>
          <p:nvPr/>
        </p:nvSpPr>
        <p:spPr>
          <a:xfrm>
            <a:off x="1270000" y="5207000"/>
            <a:ext cx="546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Poppins"/>
                <a:ea typeface="Poppins"/>
                <a:cs typeface="Poppins"/>
                <a:sym typeface="Poppins"/>
              </a:rPr>
              <a:t>Provide powerful filtering, full-text searching, and data statistical analysis capabilities.</a:t>
            </a:r>
            <a:endParaRPr lang="en-US" sz="1100"/>
          </a:p>
        </p:txBody>
      </p:sp>
      <p:sp>
        <p:nvSpPr>
          <p:cNvPr id="23" name="AutoShape 23"/>
          <p:cNvSpPr/>
          <p:nvPr/>
        </p:nvSpPr>
        <p:spPr>
          <a:xfrm>
            <a:off x="381000" y="5842000"/>
            <a:ext cx="6604000" cy="762000"/>
          </a:xfrm>
          <a:prstGeom prst="roundRect">
            <a:avLst>
              <a:gd name="adj" fmla="val 16666"/>
            </a:avLst>
          </a:prstGeom>
          <a:solidFill>
            <a:srgbClr val="E8F1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571500" y="5969000"/>
            <a:ext cx="508000" cy="508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 y="6070600"/>
            <a:ext cx="304800" cy="304800"/>
          </a:xfrm>
          <a:prstGeom prst="rect">
            <a:avLst/>
          </a:prstGeom>
        </p:spPr>
      </p:pic>
      <p:sp>
        <p:nvSpPr>
          <p:cNvPr id="26" name="AutoShape 26"/>
          <p:cNvSpPr/>
          <p:nvPr/>
        </p:nvSpPr>
        <p:spPr>
          <a:xfrm>
            <a:off x="1270000" y="5905500"/>
            <a:ext cx="546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A314D"/>
                </a:solidFill>
                <a:latin typeface="Poppins"/>
                <a:ea typeface="Poppins"/>
                <a:cs typeface="Poppins"/>
                <a:sym typeface="Poppins"/>
              </a:rPr>
              <a:t>User Experience:</a:t>
            </a:r>
            <a:r>
              <a:rPr lang="en-US" sz="1200" b="0" i="0" u="none" strike="noStrike">
                <a:solidFill>
                  <a:srgbClr val="555555"/>
                </a:solidFill>
                <a:latin typeface="Poppins"/>
                <a:ea typeface="Poppins"/>
                <a:cs typeface="Poppins"/>
                <a:sym typeface="Poppins"/>
              </a:rPr>
              <a:t>Ensure clear API documentation and consistent, meaningful JSON responses.</a:t>
            </a:r>
            <a:endParaRPr lang="en-US" sz="1100"/>
          </a:p>
        </p:txBody>
      </p:sp>
      <p:sp>
        <p:nvSpPr>
          <p:cNvPr id="27" name="AutoShape 27"/>
          <p:cNvSpPr/>
          <p:nvPr/>
        </p:nvSpPr>
        <p:spPr>
          <a:xfrm>
            <a:off x="7239000" y="1270000"/>
            <a:ext cx="4318000" cy="5334000"/>
          </a:xfrm>
          <a:prstGeom prst="roundRect">
            <a:avLst>
              <a:gd name="adj" fmla="val 5882"/>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001000" y="1905000"/>
            <a:ext cx="2794000" cy="2794000"/>
          </a:xfrm>
          <a:prstGeom prst="rect">
            <a:avLst/>
          </a:prstGeom>
        </p:spPr>
      </p:pic>
      <p:sp>
        <p:nvSpPr>
          <p:cNvPr id="29" name="AutoShape 29"/>
          <p:cNvSpPr/>
          <p:nvPr/>
        </p:nvSpPr>
        <p:spPr>
          <a:xfrm>
            <a:off x="7239000" y="4953000"/>
            <a:ext cx="431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Poppins"/>
                <a:ea typeface="Poppins"/>
                <a:cs typeface="Poppins"/>
                <a:sym typeface="Poppins"/>
              </a:rPr>
              <a:t>RESTful API</a:t>
            </a:r>
            <a:endParaRPr lang="en-US" sz="1100"/>
          </a:p>
        </p:txBody>
      </p:sp>
      <p:sp>
        <p:nvSpPr>
          <p:cNvPr id="30" name="AutoShape 30"/>
          <p:cNvSpPr/>
          <p:nvPr/>
        </p:nvSpPr>
        <p:spPr>
          <a:xfrm>
            <a:off x="7239000" y="5588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100">
                <a:solidFill>
                  <a:srgbClr val="C8D7E6"/>
                </a:solidFill>
                <a:latin typeface="Poppins"/>
                <a:ea typeface="Poppins"/>
                <a:cs typeface="Poppins"/>
                <a:sym typeface="Poppins"/>
              </a:rPr>
              <a:t>BOOK DATA MANAGEMENT</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Dataset: Goodreads Books</a:t>
            </a:r>
            <a:endParaRPr lang="en-US" sz="1100"/>
          </a:p>
        </p:txBody>
      </p:sp>
      <p:sp>
        <p:nvSpPr>
          <p:cNvPr id="3" name="AutoShape 3"/>
          <p:cNvSpPr/>
          <p:nvPr/>
        </p:nvSpPr>
        <p:spPr>
          <a:xfrm>
            <a:off x="508000" y="1270000"/>
            <a:ext cx="5461000" cy="2413000"/>
          </a:xfrm>
          <a:prstGeom prst="roundRect">
            <a:avLst>
              <a:gd name="adj" fmla="val 6315"/>
            </a:avLst>
          </a:prstGeom>
          <a:solidFill>
            <a:srgbClr val="F7F9FB">
              <a:alpha val="100000"/>
            </a:srgbClr>
          </a:solidFill>
          <a:ln w="25400" cap="flat" cmpd="sng">
            <a:noFill/>
            <a:prstDash val="solid"/>
            <a:round/>
          </a:ln>
          <a:effectLst>
            <a:outerShdw blurRad="203200" dist="50800" dir="2700000" algn="tl" rotWithShape="0">
              <a:srgbClr val="0A314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711200" cy="711200"/>
          </a:xfrm>
          <a:prstGeom prst="rect">
            <a:avLst/>
          </a:prstGeom>
        </p:spPr>
      </p:pic>
      <p:sp>
        <p:nvSpPr>
          <p:cNvPr id="5" name="AutoShape 5"/>
          <p:cNvSpPr/>
          <p:nvPr/>
        </p:nvSpPr>
        <p:spPr>
          <a:xfrm>
            <a:off x="1778000" y="1651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Data Source</a:t>
            </a:r>
            <a:endParaRPr lang="en-US" sz="1100"/>
          </a:p>
        </p:txBody>
      </p:sp>
      <p:sp>
        <p:nvSpPr>
          <p:cNvPr id="6" name="AutoShape 6"/>
          <p:cNvSpPr/>
          <p:nvPr/>
        </p:nvSpPr>
        <p:spPr>
          <a:xfrm>
            <a:off x="1778000" y="2286000"/>
            <a:ext cx="393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Poppins"/>
                <a:ea typeface="Poppins"/>
                <a:cs typeface="Poppins"/>
                <a:sym typeface="Poppins"/>
              </a:rPr>
              <a:t>A public dataset sourced from Kaggle, which was originally scraped from the official Goodreads API, ensuring the authenticity and breadth of the collected information.</a:t>
            </a:r>
            <a:endParaRPr lang="en-US" sz="1100"/>
          </a:p>
        </p:txBody>
      </p:sp>
      <p:sp>
        <p:nvSpPr>
          <p:cNvPr id="7" name="AutoShape 7"/>
          <p:cNvSpPr/>
          <p:nvPr/>
        </p:nvSpPr>
        <p:spPr>
          <a:xfrm>
            <a:off x="6223000" y="1270000"/>
            <a:ext cx="5461000" cy="2413000"/>
          </a:xfrm>
          <a:prstGeom prst="roundRect">
            <a:avLst>
              <a:gd name="adj" fmla="val 6315"/>
            </a:avLst>
          </a:prstGeom>
          <a:solidFill>
            <a:srgbClr val="F7F9FB">
              <a:alpha val="100000"/>
            </a:srgbClr>
          </a:solidFill>
          <a:ln w="25400" cap="flat" cmpd="sng">
            <a:noFill/>
            <a:prstDash val="solid"/>
            <a:round/>
          </a:ln>
          <a:effectLst>
            <a:outerShdw blurRad="203200" dist="50800" dir="2700000" algn="tl" rotWithShape="0">
              <a:srgbClr val="0A314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711200" cy="711200"/>
          </a:xfrm>
          <a:prstGeom prst="rect">
            <a:avLst/>
          </a:prstGeom>
        </p:spPr>
      </p:pic>
      <p:sp>
        <p:nvSpPr>
          <p:cNvPr id="9" name="AutoShape 9"/>
          <p:cNvSpPr/>
          <p:nvPr/>
        </p:nvSpPr>
        <p:spPr>
          <a:xfrm>
            <a:off x="7493000" y="1651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Core Attributes</a:t>
            </a:r>
            <a:endParaRPr lang="en-US" sz="1100"/>
          </a:p>
        </p:txBody>
      </p:sp>
      <p:sp>
        <p:nvSpPr>
          <p:cNvPr id="10" name="AutoShape 10"/>
          <p:cNvSpPr/>
          <p:nvPr/>
        </p:nvSpPr>
        <p:spPr>
          <a:xfrm>
            <a:off x="7493000" y="2286000"/>
            <a:ext cx="393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Poppins"/>
                <a:ea typeface="Poppins"/>
                <a:cs typeface="Poppins"/>
                <a:sym typeface="Poppins"/>
              </a:rPr>
              <a:t>Rich book metadata including: Book Title, Author Names, Average User Rating, Total Ratings Count, and Original Publication Date.</a:t>
            </a:r>
            <a:endParaRPr lang="en-US" sz="1100"/>
          </a:p>
        </p:txBody>
      </p:sp>
      <p:sp>
        <p:nvSpPr>
          <p:cNvPr id="11" name="AutoShape 11"/>
          <p:cNvSpPr/>
          <p:nvPr/>
        </p:nvSpPr>
        <p:spPr>
          <a:xfrm>
            <a:off x="508000" y="3937000"/>
            <a:ext cx="5461000" cy="2413000"/>
          </a:xfrm>
          <a:prstGeom prst="roundRect">
            <a:avLst>
              <a:gd name="adj" fmla="val 6315"/>
            </a:avLst>
          </a:prstGeom>
          <a:solidFill>
            <a:srgbClr val="F7F9FB">
              <a:alpha val="100000"/>
            </a:srgbClr>
          </a:solidFill>
          <a:ln w="25400" cap="flat" cmpd="sng">
            <a:noFill/>
            <a:prstDash val="solid"/>
            <a:round/>
          </a:ln>
          <a:effectLst>
            <a:outerShdw blurRad="203200" dist="50800" dir="2700000" algn="tl" rotWithShape="0">
              <a:srgbClr val="0A314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318000"/>
            <a:ext cx="711200" cy="711200"/>
          </a:xfrm>
          <a:prstGeom prst="rect">
            <a:avLst/>
          </a:prstGeom>
        </p:spPr>
      </p:pic>
      <p:sp>
        <p:nvSpPr>
          <p:cNvPr id="13" name="AutoShape 13"/>
          <p:cNvSpPr/>
          <p:nvPr/>
        </p:nvSpPr>
        <p:spPr>
          <a:xfrm>
            <a:off x="1778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Volume &amp; Scale</a:t>
            </a:r>
            <a:endParaRPr lang="en-US" sz="1100"/>
          </a:p>
        </p:txBody>
      </p:sp>
      <p:sp>
        <p:nvSpPr>
          <p:cNvPr id="14" name="AutoShape 14"/>
          <p:cNvSpPr/>
          <p:nvPr/>
        </p:nvSpPr>
        <p:spPr>
          <a:xfrm>
            <a:off x="1778000" y="4953000"/>
            <a:ext cx="393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55555"/>
                </a:solidFill>
                <a:latin typeface="Poppins"/>
                <a:ea typeface="Poppins"/>
                <a:cs typeface="Poppins"/>
                <a:sym typeface="Poppins"/>
              </a:rPr>
              <a:t>Contains approximately 11,000 unique rows of book data. This sample size provides a solid foundation for analysis across diverse genres and publication years.</a:t>
            </a:r>
            <a:endParaRPr lang="en-US" sz="1100"/>
          </a:p>
        </p:txBody>
      </p:sp>
      <p:sp>
        <p:nvSpPr>
          <p:cNvPr id="15" name="AutoShape 15"/>
          <p:cNvSpPr/>
          <p:nvPr/>
        </p:nvSpPr>
        <p:spPr>
          <a:xfrm>
            <a:off x="6223000" y="3937000"/>
            <a:ext cx="5461000" cy="2413000"/>
          </a:xfrm>
          <a:prstGeom prst="roundRect">
            <a:avLst>
              <a:gd name="adj" fmla="val 6315"/>
            </a:avLst>
          </a:prstGeom>
          <a:solidFill>
            <a:srgbClr val="F7F9FB">
              <a:alpha val="100000"/>
            </a:srgbClr>
          </a:solidFill>
          <a:ln w="25400" cap="flat" cmpd="sng">
            <a:noFill/>
            <a:prstDash val="solid"/>
            <a:round/>
          </a:ln>
          <a:effectLst>
            <a:outerShdw blurRad="203200" dist="50800" dir="2700000" algn="tl" rotWithShape="0">
              <a:srgbClr val="0A314D">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711200" cy="711200"/>
          </a:xfrm>
          <a:prstGeom prst="rect">
            <a:avLst/>
          </a:prstGeom>
        </p:spPr>
      </p:pic>
      <p:sp>
        <p:nvSpPr>
          <p:cNvPr id="17" name="AutoShape 17"/>
          <p:cNvSpPr/>
          <p:nvPr/>
        </p:nvSpPr>
        <p:spPr>
          <a:xfrm>
            <a:off x="7493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Preprocessing Workflow</a:t>
            </a:r>
            <a:endParaRPr lang="en-US" sz="1100"/>
          </a:p>
        </p:txBody>
      </p:sp>
      <p:sp>
        <p:nvSpPr>
          <p:cNvPr id="18" name="AutoShape 18"/>
          <p:cNvSpPr/>
          <p:nvPr/>
        </p:nvSpPr>
        <p:spPr>
          <a:xfrm>
            <a:off x="7493000" y="4889500"/>
            <a:ext cx="3937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 Converted numerical ratings from strings to float types</a:t>
            </a:r>
            <a:br>
              <a:rPr lang="en-US" sz="1100" b="0" i="0" u="none" strike="noStrike">
                <a:solidFill>
                  <a:srgbClr val="555555"/>
                </a:solidFill>
                <a:latin typeface="Poppins"/>
                <a:ea typeface="Poppins"/>
                <a:cs typeface="Poppins"/>
                <a:sym typeface="Poppins"/>
              </a:rPr>
            </a:br>
            <a:r>
              <a:rPr lang="en-US" sz="1100" b="0" i="0" u="none" strike="noStrike">
                <a:solidFill>
                  <a:srgbClr val="555555"/>
                </a:solidFill>
                <a:latin typeface="Poppins"/>
                <a:ea typeface="Poppins"/>
                <a:cs typeface="Poppins"/>
                <a:sym typeface="Poppins"/>
              </a:rPr>
              <a:t>• Handled missing values with context-aware defaults</a:t>
            </a:r>
            <a:br>
              <a:rPr lang="en-US" sz="1100" b="0" i="0" u="none" strike="noStrike">
                <a:solidFill>
                  <a:srgbClr val="555555"/>
                </a:solidFill>
                <a:latin typeface="Poppins"/>
                <a:ea typeface="Poppins"/>
                <a:cs typeface="Poppins"/>
                <a:sym typeface="Poppins"/>
              </a:rPr>
            </a:br>
            <a:r>
              <a:rPr lang="en-US" sz="1100" b="0" i="0" u="none" strike="noStrike">
                <a:solidFill>
                  <a:srgbClr val="555555"/>
                </a:solidFill>
                <a:latin typeface="Poppins"/>
                <a:ea typeface="Poppins"/>
                <a:cs typeface="Poppins"/>
                <a:sym typeface="Poppins"/>
              </a:rPr>
              <a:t>• Removed duplicate entries using ISBN as a unique key</a:t>
            </a:r>
            <a:br>
              <a:rPr lang="en-US" sz="1100" b="0" i="0" u="none" strike="noStrike">
                <a:solidFill>
                  <a:srgbClr val="555555"/>
                </a:solidFill>
                <a:latin typeface="Poppins"/>
                <a:ea typeface="Poppins"/>
                <a:cs typeface="Poppins"/>
                <a:sym typeface="Poppins"/>
              </a:rPr>
            </a:br>
            <a:r>
              <a:rPr lang="en-US" sz="1100" b="0" i="0" u="none" strike="noStrike">
                <a:solidFill>
                  <a:srgbClr val="555555"/>
                </a:solidFill>
                <a:latin typeface="Poppins"/>
                <a:ea typeface="Poppins"/>
                <a:cs typeface="Poppins"/>
                <a:sym typeface="Poppins"/>
              </a:rPr>
              <a:t>• Standardized all date fields to a consistent ISO format</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81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A314D"/>
                </a:solidFill>
                <a:latin typeface="Poppins"/>
                <a:ea typeface="Poppins"/>
                <a:cs typeface="Poppins"/>
                <a:sym typeface="Poppins"/>
              </a:rPr>
              <a:t>Technology Stack &amp; Rationale</a:t>
            </a:r>
            <a:endParaRPr lang="en-US" sz="1100"/>
          </a:p>
        </p:txBody>
      </p:sp>
      <p:sp>
        <p:nvSpPr>
          <p:cNvPr id="3" name="AutoShape 3"/>
          <p:cNvSpPr/>
          <p:nvPr/>
        </p:nvSpPr>
        <p:spPr>
          <a:xfrm>
            <a:off x="508000" y="1397000"/>
            <a:ext cx="3556000" cy="4826000"/>
          </a:xfrm>
          <a:prstGeom prst="roundRect">
            <a:avLst>
              <a:gd name="adj" fmla="val 4285"/>
            </a:avLst>
          </a:prstGeom>
          <a:solidFill>
            <a:srgbClr val="F8FAFC">
              <a:alpha val="100000"/>
            </a:srgbClr>
          </a:solidFill>
          <a:ln w="25400" cap="flat" cmpd="sng">
            <a:noFill/>
            <a:prstDash val="solid"/>
            <a:round/>
          </a:ln>
          <a:effectLst>
            <a:outerShdw blurRad="190500" dist="50800" dir="5400000" algn="tl" rotWithShape="0">
              <a:srgbClr val="0A314D">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854200" y="1714500"/>
            <a:ext cx="889000" cy="889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892300"/>
            <a:ext cx="533400" cy="533400"/>
          </a:xfrm>
          <a:prstGeom prst="rect">
            <a:avLst/>
          </a:prstGeom>
        </p:spPr>
      </p:pic>
      <p:sp>
        <p:nvSpPr>
          <p:cNvPr id="6" name="AutoShape 6"/>
          <p:cNvSpPr/>
          <p:nvPr/>
        </p:nvSpPr>
        <p:spPr>
          <a:xfrm>
            <a:off x="635000" y="2794000"/>
            <a:ext cx="330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A314D"/>
                </a:solidFill>
                <a:latin typeface="Poppins"/>
                <a:ea typeface="Poppins"/>
                <a:cs typeface="Poppins"/>
                <a:sym typeface="Poppins"/>
              </a:rPr>
              <a:t>FastAPI Framework</a:t>
            </a:r>
            <a:endParaRPr lang="en-US" sz="1100"/>
          </a:p>
        </p:txBody>
      </p:sp>
      <p:cxnSp>
        <p:nvCxnSpPr>
          <p:cNvPr id="7" name="Connector 7"/>
          <p:cNvCxnSpPr/>
          <p:nvPr/>
        </p:nvCxnSpPr>
        <p:spPr>
          <a:xfrm rot="-14323">
            <a:off x="762013" y="3422650"/>
            <a:ext cx="3048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8" name="AutoShape 8"/>
          <p:cNvSpPr/>
          <p:nvPr/>
        </p:nvSpPr>
        <p:spPr>
          <a:xfrm>
            <a:off x="762000" y="3683000"/>
            <a:ext cx="304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A314D"/>
                </a:solidFill>
                <a:latin typeface="Poppins"/>
                <a:ea typeface="Poppins"/>
                <a:cs typeface="Poppins"/>
                <a:sym typeface="Poppins"/>
              </a:rPr>
              <a:t>WHY WE CHOSE IT</a:t>
            </a:r>
            <a:endParaRPr lang="en-US" sz="1100"/>
          </a:p>
        </p:txBody>
      </p:sp>
      <p:sp>
        <p:nvSpPr>
          <p:cNvPr id="9" name="AutoShape 9"/>
          <p:cNvSpPr/>
          <p:nvPr/>
        </p:nvSpPr>
        <p:spPr>
          <a:xfrm>
            <a:off x="762000" y="4064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A modern, high-performance Python 3.7+ web framework that natively supports asynchronous programming, making it ideal for I/O bound tasks.</a:t>
            </a:r>
            <a:endParaRPr lang="en-US" sz="1100"/>
          </a:p>
        </p:txBody>
      </p:sp>
      <p:sp>
        <p:nvSpPr>
          <p:cNvPr id="10" name="AutoShape 10"/>
          <p:cNvSpPr/>
          <p:nvPr/>
        </p:nvSpPr>
        <p:spPr>
          <a:xfrm>
            <a:off x="762000" y="4953000"/>
            <a:ext cx="304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A314D"/>
                </a:solidFill>
                <a:latin typeface="Poppins"/>
                <a:ea typeface="Poppins"/>
                <a:cs typeface="Poppins"/>
                <a:sym typeface="Poppins"/>
              </a:rPr>
              <a:t>KEY BENEFITS</a:t>
            </a:r>
            <a:endParaRPr lang="en-US" sz="1100"/>
          </a:p>
        </p:txBody>
      </p:sp>
      <p:sp>
        <p:nvSpPr>
          <p:cNvPr id="11" name="AutoShape 11"/>
          <p:cNvSpPr/>
          <p:nvPr/>
        </p:nvSpPr>
        <p:spPr>
          <a:xfrm>
            <a:off x="762000" y="5334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Comes with auto-generated Swagger UI for interactive docs; features intuitive dependency injection and near NodeJS/Go performance.</a:t>
            </a:r>
            <a:endParaRPr lang="en-US" sz="1100"/>
          </a:p>
        </p:txBody>
      </p:sp>
      <p:sp>
        <p:nvSpPr>
          <p:cNvPr id="12" name="AutoShape 12"/>
          <p:cNvSpPr/>
          <p:nvPr/>
        </p:nvSpPr>
        <p:spPr>
          <a:xfrm>
            <a:off x="4318000" y="1397000"/>
            <a:ext cx="3556000" cy="4826000"/>
          </a:xfrm>
          <a:prstGeom prst="roundRect">
            <a:avLst>
              <a:gd name="adj" fmla="val 4285"/>
            </a:avLst>
          </a:prstGeom>
          <a:solidFill>
            <a:srgbClr val="F8FAFC">
              <a:alpha val="100000"/>
            </a:srgbClr>
          </a:solidFill>
          <a:ln w="25400" cap="flat" cmpd="sng">
            <a:noFill/>
            <a:prstDash val="solid"/>
            <a:round/>
          </a:ln>
          <a:effectLst>
            <a:outerShdw blurRad="190500" dist="50800" dir="5400000" algn="tl" rotWithShape="0">
              <a:srgbClr val="0A314D">
                <a:alpha val="10000"/>
              </a:srgbClr>
            </a:outerShdw>
          </a:effectLst>
        </p:spPr>
        <p:txBody>
          <a:bodyPr vert="horz" wrap="square" lIns="63500" tIns="63500" rIns="63500" bIns="63500" rtlCol="0" anchor="ctr"/>
          <a:lstStyle/>
          <a:p>
            <a:pPr algn="ctr">
              <a:defRPr/>
            </a:pPr>
          </a:p>
        </p:txBody>
      </p:sp>
      <p:sp>
        <p:nvSpPr>
          <p:cNvPr id="13" name="AutoShape 13"/>
          <p:cNvSpPr/>
          <p:nvPr/>
        </p:nvSpPr>
        <p:spPr>
          <a:xfrm>
            <a:off x="5664200" y="1714500"/>
            <a:ext cx="889000" cy="889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1892300"/>
            <a:ext cx="533400" cy="533400"/>
          </a:xfrm>
          <a:prstGeom prst="rect">
            <a:avLst/>
          </a:prstGeom>
        </p:spPr>
      </p:pic>
      <p:sp>
        <p:nvSpPr>
          <p:cNvPr id="15" name="AutoShape 15"/>
          <p:cNvSpPr/>
          <p:nvPr/>
        </p:nvSpPr>
        <p:spPr>
          <a:xfrm>
            <a:off x="4445000" y="2794000"/>
            <a:ext cx="330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A314D"/>
                </a:solidFill>
                <a:latin typeface="Poppins"/>
                <a:ea typeface="Poppins"/>
                <a:cs typeface="Poppins"/>
                <a:sym typeface="Poppins"/>
              </a:rPr>
              <a:t>SQLite &amp; SQLAlchemy</a:t>
            </a:r>
            <a:endParaRPr lang="en-US" sz="1100"/>
          </a:p>
        </p:txBody>
      </p:sp>
      <p:cxnSp>
        <p:nvCxnSpPr>
          <p:cNvPr id="16" name="Connector 16"/>
          <p:cNvCxnSpPr/>
          <p:nvPr/>
        </p:nvCxnSpPr>
        <p:spPr>
          <a:xfrm rot="-14323">
            <a:off x="4572013" y="3422650"/>
            <a:ext cx="3048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7" name="AutoShape 17"/>
          <p:cNvSpPr/>
          <p:nvPr/>
        </p:nvSpPr>
        <p:spPr>
          <a:xfrm>
            <a:off x="4572000" y="3683000"/>
            <a:ext cx="304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A314D"/>
                </a:solidFill>
                <a:latin typeface="Poppins"/>
                <a:ea typeface="Poppins"/>
                <a:cs typeface="Poppins"/>
                <a:sym typeface="Poppins"/>
              </a:rPr>
              <a:t>WHY WE CHOSE IT</a:t>
            </a:r>
            <a:endParaRPr lang="en-US" sz="1100"/>
          </a:p>
        </p:txBody>
      </p:sp>
      <p:sp>
        <p:nvSpPr>
          <p:cNvPr id="18" name="AutoShape 18"/>
          <p:cNvSpPr/>
          <p:nvPr/>
        </p:nvSpPr>
        <p:spPr>
          <a:xfrm>
            <a:off x="4572000" y="4064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SQLite is a lightweight, file-based RDBMS perfect for development. Paired with SQLAlchemy, it provides a powerful abstraction layer over raw SQL.</a:t>
            </a:r>
            <a:endParaRPr lang="en-US" sz="1100"/>
          </a:p>
        </p:txBody>
      </p:sp>
      <p:sp>
        <p:nvSpPr>
          <p:cNvPr id="19" name="AutoShape 19"/>
          <p:cNvSpPr/>
          <p:nvPr/>
        </p:nvSpPr>
        <p:spPr>
          <a:xfrm>
            <a:off x="4572000" y="4953000"/>
            <a:ext cx="304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A314D"/>
                </a:solidFill>
                <a:latin typeface="Poppins"/>
                <a:ea typeface="Poppins"/>
                <a:cs typeface="Poppins"/>
                <a:sym typeface="Poppins"/>
              </a:rPr>
              <a:t>KEY BENEFITS</a:t>
            </a:r>
            <a:endParaRPr lang="en-US" sz="1100"/>
          </a:p>
        </p:txBody>
      </p:sp>
      <p:sp>
        <p:nvSpPr>
          <p:cNvPr id="20" name="AutoShape 20"/>
          <p:cNvSpPr/>
          <p:nvPr/>
        </p:nvSpPr>
        <p:spPr>
          <a:xfrm>
            <a:off x="4572000" y="5334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ORM simplifies CRUD operations and ensures database-agnostic code. No server setup required for SQLite, streamlining the development workflow.</a:t>
            </a:r>
            <a:endParaRPr lang="en-US" sz="1100"/>
          </a:p>
        </p:txBody>
      </p:sp>
      <p:sp>
        <p:nvSpPr>
          <p:cNvPr id="21" name="AutoShape 21"/>
          <p:cNvSpPr/>
          <p:nvPr/>
        </p:nvSpPr>
        <p:spPr>
          <a:xfrm>
            <a:off x="8128000" y="1397000"/>
            <a:ext cx="3556000" cy="4826000"/>
          </a:xfrm>
          <a:prstGeom prst="roundRect">
            <a:avLst>
              <a:gd name="adj" fmla="val 4285"/>
            </a:avLst>
          </a:prstGeom>
          <a:solidFill>
            <a:srgbClr val="F8FAFC">
              <a:alpha val="100000"/>
            </a:srgbClr>
          </a:solidFill>
          <a:ln w="25400" cap="flat" cmpd="sng">
            <a:noFill/>
            <a:prstDash val="solid"/>
            <a:round/>
          </a:ln>
          <a:effectLst>
            <a:outerShdw blurRad="190500" dist="50800" dir="5400000" algn="tl" rotWithShape="0">
              <a:srgbClr val="0A314D">
                <a:alpha val="10000"/>
              </a:srgbClr>
            </a:outerShdw>
          </a:effectLst>
        </p:spPr>
        <p:txBody>
          <a:bodyPr vert="horz" wrap="square" lIns="63500" tIns="63500" rIns="63500" bIns="63500" rtlCol="0" anchor="ctr"/>
          <a:lstStyle/>
          <a:p>
            <a:pPr algn="ctr">
              <a:defRPr/>
            </a:pPr>
          </a:p>
        </p:txBody>
      </p:sp>
      <p:sp>
        <p:nvSpPr>
          <p:cNvPr id="22" name="AutoShape 22"/>
          <p:cNvSpPr/>
          <p:nvPr/>
        </p:nvSpPr>
        <p:spPr>
          <a:xfrm>
            <a:off x="9474200" y="1714500"/>
            <a:ext cx="889000" cy="889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52000" y="1892300"/>
            <a:ext cx="533400" cy="533400"/>
          </a:xfrm>
          <a:prstGeom prst="rect">
            <a:avLst/>
          </a:prstGeom>
        </p:spPr>
      </p:pic>
      <p:sp>
        <p:nvSpPr>
          <p:cNvPr id="24" name="AutoShape 24"/>
          <p:cNvSpPr/>
          <p:nvPr/>
        </p:nvSpPr>
        <p:spPr>
          <a:xfrm>
            <a:off x="8255000" y="2794000"/>
            <a:ext cx="330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A314D"/>
                </a:solidFill>
                <a:latin typeface="Poppins"/>
                <a:ea typeface="Poppins"/>
                <a:cs typeface="Poppins"/>
                <a:sym typeface="Poppins"/>
              </a:rPr>
              <a:t>Pydantic Validation</a:t>
            </a:r>
            <a:endParaRPr lang="en-US" sz="1100"/>
          </a:p>
        </p:txBody>
      </p:sp>
      <p:cxnSp>
        <p:nvCxnSpPr>
          <p:cNvPr id="25" name="Connector 25"/>
          <p:cNvCxnSpPr/>
          <p:nvPr/>
        </p:nvCxnSpPr>
        <p:spPr>
          <a:xfrm rot="-14323">
            <a:off x="8382013" y="3422650"/>
            <a:ext cx="3048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6" name="AutoShape 26"/>
          <p:cNvSpPr/>
          <p:nvPr/>
        </p:nvSpPr>
        <p:spPr>
          <a:xfrm>
            <a:off x="8382000" y="3683000"/>
            <a:ext cx="304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A314D"/>
                </a:solidFill>
                <a:latin typeface="Poppins"/>
                <a:ea typeface="Poppins"/>
                <a:cs typeface="Poppins"/>
                <a:sym typeface="Poppins"/>
              </a:rPr>
              <a:t>WHY WE CHOSE IT</a:t>
            </a:r>
            <a:endParaRPr lang="en-US" sz="1100"/>
          </a:p>
        </p:txBody>
      </p:sp>
      <p:sp>
        <p:nvSpPr>
          <p:cNvPr id="27" name="AutoShape 27"/>
          <p:cNvSpPr/>
          <p:nvPr/>
        </p:nvSpPr>
        <p:spPr>
          <a:xfrm>
            <a:off x="8382000" y="4064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The de facto data validation library for FastAPI. It enforces type hints at runtime and is used to define strict request/response data models.</a:t>
            </a:r>
            <a:endParaRPr lang="en-US" sz="1100"/>
          </a:p>
        </p:txBody>
      </p:sp>
      <p:sp>
        <p:nvSpPr>
          <p:cNvPr id="28" name="AutoShape 28"/>
          <p:cNvSpPr/>
          <p:nvPr/>
        </p:nvSpPr>
        <p:spPr>
          <a:xfrm>
            <a:off x="8382000" y="4953000"/>
            <a:ext cx="304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A314D"/>
                </a:solidFill>
                <a:latin typeface="Poppins"/>
                <a:ea typeface="Poppins"/>
                <a:cs typeface="Poppins"/>
                <a:sym typeface="Poppins"/>
              </a:rPr>
              <a:t>KEY BENEFITS</a:t>
            </a:r>
            <a:endParaRPr lang="en-US" sz="1100"/>
          </a:p>
        </p:txBody>
      </p:sp>
      <p:sp>
        <p:nvSpPr>
          <p:cNvPr id="29" name="AutoShape 29"/>
          <p:cNvSpPr/>
          <p:nvPr/>
        </p:nvSpPr>
        <p:spPr>
          <a:xfrm>
            <a:off x="8382000" y="5334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555"/>
                </a:solidFill>
                <a:latin typeface="Poppins"/>
                <a:ea typeface="Poppins"/>
                <a:cs typeface="Poppins"/>
                <a:sym typeface="Poppins"/>
              </a:rPr>
              <a:t>Eliminates invalid data at the API boundary; offers automatic data conversion and clear, maintainable schema definitions for the application.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System Architecture</a:t>
            </a:r>
            <a:endParaRPr lang="en-US" sz="1100"/>
          </a:p>
        </p:txBody>
      </p:sp>
      <p:sp>
        <p:nvSpPr>
          <p:cNvPr id="3" name="AutoShape 3"/>
          <p:cNvSpPr/>
          <p:nvPr/>
        </p:nvSpPr>
        <p:spPr>
          <a:xfrm>
            <a:off x="508000" y="1143000"/>
            <a:ext cx="4826000" cy="5334000"/>
          </a:xfrm>
          <a:prstGeom prst="roundRect">
            <a:avLst>
              <a:gd name="adj" fmla="val 3157"/>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4318000" cy="1016000"/>
          </a:xfrm>
          <a:prstGeom prst="roundRect">
            <a:avLst>
              <a:gd name="adj" fmla="val 12500"/>
            </a:avLst>
          </a:prstGeom>
          <a:solidFill>
            <a:srgbClr val="0A314D">
              <a:alpha val="100000"/>
            </a:srgbClr>
          </a:solidFill>
          <a:ln w="25400" cap="flat" cmpd="sng">
            <a:noFill/>
            <a:prstDash val="solid"/>
            <a:round/>
          </a:ln>
          <a:effectLst>
            <a:outerShdw blurRad="101600" dist="38100" dir="2700000" algn="tl" rotWithShape="0">
              <a:srgbClr val="000000">
                <a:alpha val="12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714500"/>
            <a:ext cx="635000" cy="635000"/>
          </a:xfrm>
          <a:prstGeom prst="rect">
            <a:avLst/>
          </a:prstGeom>
        </p:spPr>
      </p:pic>
      <p:sp>
        <p:nvSpPr>
          <p:cNvPr id="6" name="AutoShape 6"/>
          <p:cNvSpPr/>
          <p:nvPr/>
        </p:nvSpPr>
        <p:spPr>
          <a:xfrm>
            <a:off x="1778000" y="1651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HTTP Requests</a:t>
            </a:r>
            <a:endParaRPr lang="en-US" sz="1100"/>
          </a:p>
          <a:p>
            <a:pPr indent="0" algn="l">
              <a:lnSpc>
                <a:spcPct val="125000"/>
              </a:lnSpc>
            </a:pPr>
            <a:r>
              <a:rPr lang="en-US" sz="1200" b="0" i="0" u="none" strike="noStrike">
                <a:solidFill>
                  <a:srgbClr val="FFFFFF">
                    <a:alpha val="70196"/>
                  </a:srgbClr>
                </a:solidFill>
                <a:latin typeface="Poppins"/>
                <a:ea typeface="Poppins"/>
                <a:cs typeface="Poppins"/>
                <a:sym typeface="Poppins"/>
              </a:rPr>
              <a:t>Client Interaction Entry Point</a:t>
            </a:r>
            <a:endParaRPr lang="en-US" sz="1200" b="0" i="0" u="none" strike="noStrike">
              <a:solidFill>
                <a:srgbClr val="FFFFFF">
                  <a:alpha val="70196"/>
                </a:srgbClr>
              </a:solidFill>
              <a:latin typeface="Poppins"/>
              <a:ea typeface="Poppins"/>
              <a:cs typeface="Poppins"/>
              <a:sym typeface="Poppins"/>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30500" y="2667000"/>
            <a:ext cx="381000" cy="381000"/>
          </a:xfrm>
          <a:prstGeom prst="rect">
            <a:avLst/>
          </a:prstGeom>
        </p:spPr>
      </p:pic>
      <p:sp>
        <p:nvSpPr>
          <p:cNvPr id="8" name="AutoShape 8"/>
          <p:cNvSpPr/>
          <p:nvPr/>
        </p:nvSpPr>
        <p:spPr>
          <a:xfrm>
            <a:off x="762000" y="3175000"/>
            <a:ext cx="4318000" cy="1016000"/>
          </a:xfrm>
          <a:prstGeom prst="roundRect">
            <a:avLst>
              <a:gd name="adj" fmla="val 12500"/>
            </a:avLst>
          </a:prstGeom>
          <a:solidFill>
            <a:srgbClr val="0A314D">
              <a:alpha val="100000"/>
            </a:srgbClr>
          </a:solidFill>
          <a:ln w="25400" cap="flat" cmpd="sng">
            <a:noFill/>
            <a:prstDash val="solid"/>
            <a:round/>
          </a:ln>
          <a:effectLst>
            <a:outerShdw blurRad="101600" dist="38100" dir="2700000" algn="tl" rotWithShape="0">
              <a:srgbClr val="000000">
                <a:alpha val="12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3365500"/>
            <a:ext cx="635000" cy="635000"/>
          </a:xfrm>
          <a:prstGeom prst="rect">
            <a:avLst/>
          </a:prstGeom>
        </p:spPr>
      </p:pic>
      <p:sp>
        <p:nvSpPr>
          <p:cNvPr id="10" name="AutoShape 10"/>
          <p:cNvSpPr/>
          <p:nvPr/>
        </p:nvSpPr>
        <p:spPr>
          <a:xfrm>
            <a:off x="1778000" y="3302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API Routes (routes/)</a:t>
            </a:r>
            <a:endParaRPr lang="en-US" sz="1100"/>
          </a:p>
          <a:p>
            <a:pPr indent="0" algn="l">
              <a:lnSpc>
                <a:spcPct val="125000"/>
              </a:lnSpc>
            </a:pPr>
            <a:r>
              <a:rPr lang="en-US" sz="1200" b="0" i="0" u="none" strike="noStrike">
                <a:solidFill>
                  <a:srgbClr val="FFFFFF">
                    <a:alpha val="70196"/>
                  </a:srgbClr>
                </a:solidFill>
                <a:latin typeface="Poppins"/>
                <a:ea typeface="Poppins"/>
                <a:cs typeface="Poppins"/>
                <a:sym typeface="Poppins"/>
              </a:rPr>
              <a:t>Maps Endpoints &amp; Directs Logic</a:t>
            </a:r>
            <a:endParaRPr lang="en-US" sz="1200" b="0" i="0" u="none" strike="noStrike">
              <a:solidFill>
                <a:srgbClr val="FFFFFF">
                  <a:alpha val="70196"/>
                </a:srgbClr>
              </a:solidFill>
              <a:latin typeface="Poppins"/>
              <a:ea typeface="Poppins"/>
              <a:cs typeface="Poppins"/>
              <a:sym typeface="Poppins"/>
            </a:endParaR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30500" y="4318000"/>
            <a:ext cx="381000" cy="381000"/>
          </a:xfrm>
          <a:prstGeom prst="rect">
            <a:avLst/>
          </a:prstGeom>
        </p:spPr>
      </p:pic>
      <p:sp>
        <p:nvSpPr>
          <p:cNvPr id="12" name="AutoShape 12"/>
          <p:cNvSpPr/>
          <p:nvPr/>
        </p:nvSpPr>
        <p:spPr>
          <a:xfrm>
            <a:off x="762000" y="4826000"/>
            <a:ext cx="4318000" cy="1016000"/>
          </a:xfrm>
          <a:prstGeom prst="roundRect">
            <a:avLst>
              <a:gd name="adj" fmla="val 12500"/>
            </a:avLst>
          </a:prstGeom>
          <a:solidFill>
            <a:srgbClr val="0A314D">
              <a:alpha val="100000"/>
            </a:srgbClr>
          </a:solidFill>
          <a:ln w="25400" cap="flat" cmpd="sng">
            <a:noFill/>
            <a:prstDash val="solid"/>
            <a:round/>
          </a:ln>
          <a:effectLst>
            <a:outerShdw blurRad="101600" dist="38100" dir="2700000" algn="tl" rotWithShape="0">
              <a:srgbClr val="000000">
                <a:alpha val="12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016500"/>
            <a:ext cx="635000" cy="635000"/>
          </a:xfrm>
          <a:prstGeom prst="rect">
            <a:avLst/>
          </a:prstGeom>
        </p:spPr>
      </p:pic>
      <p:sp>
        <p:nvSpPr>
          <p:cNvPr id="14" name="AutoShape 14"/>
          <p:cNvSpPr/>
          <p:nvPr/>
        </p:nvSpPr>
        <p:spPr>
          <a:xfrm>
            <a:off x="1778000" y="4953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Service Layer (services/)</a:t>
            </a:r>
            <a:endParaRPr lang="en-US" sz="1100"/>
          </a:p>
          <a:p>
            <a:pPr indent="0" algn="l">
              <a:lnSpc>
                <a:spcPct val="125000"/>
              </a:lnSpc>
            </a:pPr>
            <a:r>
              <a:rPr lang="en-US" sz="1200" b="0" i="0" u="none" strike="noStrike">
                <a:solidFill>
                  <a:srgbClr val="FFFFFF">
                    <a:alpha val="70196"/>
                  </a:srgbClr>
                </a:solidFill>
                <a:latin typeface="Poppins"/>
                <a:ea typeface="Poppins"/>
                <a:cs typeface="Poppins"/>
                <a:sym typeface="Poppins"/>
              </a:rPr>
              <a:t>Core Business Logic Implementation</a:t>
            </a:r>
            <a:endParaRPr lang="en-US" sz="1200" b="0" i="0" u="none" strike="noStrike">
              <a:solidFill>
                <a:srgbClr val="FFFFFF">
                  <a:alpha val="70196"/>
                </a:srgbClr>
              </a:solidFill>
              <a:latin typeface="Poppins"/>
              <a:ea typeface="Poppins"/>
              <a:cs typeface="Poppins"/>
              <a:sym typeface="Poppins"/>
            </a:endParaRPr>
          </a:p>
        </p:txBody>
      </p:sp>
      <p:sp>
        <p:nvSpPr>
          <p:cNvPr id="15" name="AutoShape 15"/>
          <p:cNvSpPr/>
          <p:nvPr/>
        </p:nvSpPr>
        <p:spPr>
          <a:xfrm>
            <a:off x="762000" y="5969000"/>
            <a:ext cx="4318000" cy="457200"/>
          </a:xfrm>
          <a:prstGeom prst="roundRect">
            <a:avLst>
              <a:gd name="adj" fmla="val 27777"/>
            </a:avLst>
          </a:prstGeom>
          <a:solidFill>
            <a:srgbClr val="E0EBF5">
              <a:alpha val="100000"/>
            </a:srgbClr>
          </a:solidFill>
          <a:ln w="12700" cap="flat" cmpd="sng">
            <a:solidFill>
              <a:srgbClr val="0A314D">
                <a:alpha val="3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6019800"/>
            <a:ext cx="431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0A314D"/>
                </a:solidFill>
                <a:latin typeface="Poppins"/>
                <a:ea typeface="Poppins"/>
                <a:cs typeface="Poppins"/>
                <a:sym typeface="Poppins"/>
              </a:rPr>
              <a:t>🗄️ DB (SQLAlchemy) | 📐 Schemas (Pydantic Validation)</a:t>
            </a:r>
            <a:endParaRPr lang="en-US" sz="1100"/>
          </a:p>
        </p:txBody>
      </p:sp>
      <p:sp>
        <p:nvSpPr>
          <p:cNvPr id="17" name="AutoShape 17"/>
          <p:cNvSpPr/>
          <p:nvPr/>
        </p:nvSpPr>
        <p:spPr>
          <a:xfrm>
            <a:off x="5715000" y="1524000"/>
            <a:ext cx="5842000" cy="1397000"/>
          </a:xfrm>
          <a:prstGeom prst="roundRect">
            <a:avLst>
              <a:gd name="adj" fmla="val 10909"/>
            </a:avLst>
          </a:prstGeom>
          <a:solidFill>
            <a:srgbClr val="F8FAFC">
              <a:alpha val="100000"/>
            </a:srgbClr>
          </a:solidFill>
          <a:ln w="25400" cap="flat" cmpd="sng">
            <a:noFill/>
            <a:prstDash val="solid"/>
            <a:round/>
          </a:ln>
          <a:effectLst>
            <a:outerShdw blurRad="762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69000" y="1714500"/>
            <a:ext cx="406400" cy="406400"/>
          </a:xfrm>
          <a:prstGeom prst="rect">
            <a:avLst/>
          </a:prstGeom>
        </p:spPr>
      </p:pic>
      <p:sp>
        <p:nvSpPr>
          <p:cNvPr id="19" name="AutoShape 19"/>
          <p:cNvSpPr/>
          <p:nvPr/>
        </p:nvSpPr>
        <p:spPr>
          <a:xfrm>
            <a:off x="6540500" y="1676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Modular Structure</a:t>
            </a:r>
            <a:endParaRPr lang="en-US" sz="1100"/>
          </a:p>
        </p:txBody>
      </p:sp>
      <p:sp>
        <p:nvSpPr>
          <p:cNvPr id="20" name="AutoShape 20"/>
          <p:cNvSpPr/>
          <p:nvPr/>
        </p:nvSpPr>
        <p:spPr>
          <a:xfrm>
            <a:off x="5969000" y="22225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333333"/>
                </a:solidFill>
                <a:latin typeface="Poppins"/>
                <a:ea typeface="Poppins"/>
                <a:cs typeface="Poppins"/>
                <a:sym typeface="Poppins"/>
              </a:rPr>
              <a:t>Strict division into</a:t>
            </a:r>
            <a:r>
              <a:rPr lang="en-US" sz="1200" b="1" i="0" u="none" strike="noStrike">
                <a:solidFill>
                  <a:srgbClr val="333333"/>
                </a:solidFill>
                <a:latin typeface="Poppins"/>
                <a:ea typeface="Poppins"/>
                <a:cs typeface="Poppins"/>
                <a:sym typeface="Poppins"/>
              </a:rPr>
              <a:t>routes/</a:t>
            </a:r>
            <a:r>
              <a:rPr lang="en-US" sz="1200" b="0" i="0" u="none" strike="noStrike">
                <a:solidFill>
                  <a:srgbClr val="333333"/>
                </a:solidFill>
                <a:latin typeface="Poppins"/>
                <a:ea typeface="Poppins"/>
                <a:cs typeface="Poppins"/>
                <a:sym typeface="Poppins"/>
              </a:rPr>
              <a:t>(endpoints),</a:t>
            </a:r>
            <a:r>
              <a:rPr lang="en-US" sz="1200" b="1" i="0" u="none" strike="noStrike">
                <a:solidFill>
                  <a:srgbClr val="333333"/>
                </a:solidFill>
                <a:latin typeface="Poppins"/>
                <a:ea typeface="Poppins"/>
                <a:cs typeface="Poppins"/>
                <a:sym typeface="Poppins"/>
              </a:rPr>
              <a:t>services/</a:t>
            </a:r>
            <a:r>
              <a:rPr lang="en-US" sz="1200" b="0" i="0" u="none" strike="noStrike">
                <a:solidFill>
                  <a:srgbClr val="333333"/>
                </a:solidFill>
                <a:latin typeface="Poppins"/>
                <a:ea typeface="Poppins"/>
                <a:cs typeface="Poppins"/>
                <a:sym typeface="Poppins"/>
              </a:rPr>
              <a:t>(logic),</a:t>
            </a:r>
            <a:r>
              <a:rPr lang="en-US" sz="1200" b="1" i="0" u="none" strike="noStrike">
                <a:solidFill>
                  <a:srgbClr val="333333"/>
                </a:solidFill>
                <a:latin typeface="Poppins"/>
                <a:ea typeface="Poppins"/>
                <a:cs typeface="Poppins"/>
                <a:sym typeface="Poppins"/>
              </a:rPr>
              <a:t>models/</a:t>
            </a:r>
            <a:r>
              <a:rPr lang="en-US" sz="1200" b="0" i="0" u="none" strike="noStrike">
                <a:solidFill>
                  <a:srgbClr val="333333"/>
                </a:solidFill>
                <a:latin typeface="Poppins"/>
                <a:ea typeface="Poppins"/>
                <a:cs typeface="Poppins"/>
                <a:sym typeface="Poppins"/>
              </a:rPr>
              <a:t>(entities), and</a:t>
            </a:r>
            <a:r>
              <a:rPr lang="en-US" sz="1200" b="1" i="0" u="none" strike="noStrike">
                <a:solidFill>
                  <a:srgbClr val="333333"/>
                </a:solidFill>
                <a:latin typeface="Poppins"/>
                <a:ea typeface="Poppins"/>
                <a:cs typeface="Poppins"/>
                <a:sym typeface="Poppins"/>
              </a:rPr>
              <a:t>schemas/</a:t>
            </a:r>
            <a:r>
              <a:rPr lang="en-US" sz="1200" b="0" i="0" u="none" strike="noStrike">
                <a:solidFill>
                  <a:srgbClr val="333333"/>
                </a:solidFill>
                <a:latin typeface="Poppins"/>
                <a:ea typeface="Poppins"/>
                <a:cs typeface="Poppins"/>
                <a:sym typeface="Poppins"/>
              </a:rPr>
              <a:t>(validation) for organized codebase.</a:t>
            </a:r>
            <a:endParaRPr lang="en-US" sz="1100"/>
          </a:p>
        </p:txBody>
      </p:sp>
      <p:sp>
        <p:nvSpPr>
          <p:cNvPr id="21" name="AutoShape 21"/>
          <p:cNvSpPr/>
          <p:nvPr/>
        </p:nvSpPr>
        <p:spPr>
          <a:xfrm>
            <a:off x="5715000" y="3175000"/>
            <a:ext cx="5842000" cy="1397000"/>
          </a:xfrm>
          <a:prstGeom prst="roundRect">
            <a:avLst>
              <a:gd name="adj" fmla="val 10909"/>
            </a:avLst>
          </a:prstGeom>
          <a:solidFill>
            <a:srgbClr val="F8FAFC">
              <a:alpha val="100000"/>
            </a:srgbClr>
          </a:solidFill>
          <a:ln w="25400" cap="flat" cmpd="sng">
            <a:noFill/>
            <a:prstDash val="solid"/>
            <a:round/>
          </a:ln>
          <a:effectLst>
            <a:outerShdw blurRad="762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969000" y="3365500"/>
            <a:ext cx="406400" cy="406400"/>
          </a:xfrm>
          <a:prstGeom prst="rect">
            <a:avLst/>
          </a:prstGeom>
        </p:spPr>
      </p:pic>
      <p:sp>
        <p:nvSpPr>
          <p:cNvPr id="23" name="AutoShape 23"/>
          <p:cNvSpPr/>
          <p:nvPr/>
        </p:nvSpPr>
        <p:spPr>
          <a:xfrm>
            <a:off x="6540500" y="3327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Separation of Concerns</a:t>
            </a:r>
            <a:endParaRPr lang="en-US" sz="1100"/>
          </a:p>
        </p:txBody>
      </p:sp>
      <p:sp>
        <p:nvSpPr>
          <p:cNvPr id="24" name="AutoShape 24"/>
          <p:cNvSpPr/>
          <p:nvPr/>
        </p:nvSpPr>
        <p:spPr>
          <a:xfrm>
            <a:off x="5969000" y="38735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333333"/>
                </a:solidFill>
                <a:latin typeface="Poppins"/>
                <a:ea typeface="Poppins"/>
                <a:cs typeface="Poppins"/>
                <a:sym typeface="Poppins"/>
              </a:rPr>
              <a:t>Clear isolation between HTTP request handling, core business logic execution, and database data access operations.</a:t>
            </a:r>
            <a:endParaRPr lang="en-US" sz="1100"/>
          </a:p>
        </p:txBody>
      </p:sp>
      <p:sp>
        <p:nvSpPr>
          <p:cNvPr id="25" name="AutoShape 25"/>
          <p:cNvSpPr/>
          <p:nvPr/>
        </p:nvSpPr>
        <p:spPr>
          <a:xfrm>
            <a:off x="5715000" y="4826000"/>
            <a:ext cx="5842000" cy="1397000"/>
          </a:xfrm>
          <a:prstGeom prst="roundRect">
            <a:avLst>
              <a:gd name="adj" fmla="val 10909"/>
            </a:avLst>
          </a:prstGeom>
          <a:solidFill>
            <a:srgbClr val="F8FAFC">
              <a:alpha val="100000"/>
            </a:srgbClr>
          </a:solidFill>
          <a:ln w="25400" cap="flat" cmpd="sng">
            <a:noFill/>
            <a:prstDash val="solid"/>
            <a:round/>
          </a:ln>
          <a:effectLst>
            <a:outerShdw blurRad="762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969000" y="5016500"/>
            <a:ext cx="406400" cy="406400"/>
          </a:xfrm>
          <a:prstGeom prst="rect">
            <a:avLst/>
          </a:prstGeom>
        </p:spPr>
      </p:pic>
      <p:sp>
        <p:nvSpPr>
          <p:cNvPr id="27" name="AutoShape 27"/>
          <p:cNvSpPr/>
          <p:nvPr/>
        </p:nvSpPr>
        <p:spPr>
          <a:xfrm>
            <a:off x="6540500" y="4978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Scalability &amp; Maintainability</a:t>
            </a:r>
            <a:endParaRPr lang="en-US" sz="1100"/>
          </a:p>
        </p:txBody>
      </p:sp>
      <p:sp>
        <p:nvSpPr>
          <p:cNvPr id="28" name="AutoShape 28"/>
          <p:cNvSpPr/>
          <p:nvPr/>
        </p:nvSpPr>
        <p:spPr>
          <a:xfrm>
            <a:off x="5969000" y="55245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333333"/>
                </a:solidFill>
                <a:latin typeface="Poppins"/>
                <a:ea typeface="Poppins"/>
                <a:cs typeface="Poppins"/>
                <a:sym typeface="Poppins"/>
              </a:rPr>
              <a:t>The layered architecture pattern minimizes code coupling, making the application easy to extend with new features and maintain over time.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Database Model: Book Entity</a:t>
            </a:r>
            <a:endParaRPr lang="en-US" sz="1100"/>
          </a:p>
        </p:txBody>
      </p:sp>
      <p:sp>
        <p:nvSpPr>
          <p:cNvPr id="3" name="AutoShape 3"/>
          <p:cNvSpPr/>
          <p:nvPr/>
        </p:nvSpPr>
        <p:spPr>
          <a:xfrm>
            <a:off x="508000" y="1397000"/>
            <a:ext cx="2540000" cy="4826000"/>
          </a:xfrm>
          <a:prstGeom prst="roundRect">
            <a:avLst>
              <a:gd name="adj" fmla="val 6000"/>
            </a:avLst>
          </a:prstGeom>
          <a:solidFill>
            <a:srgbClr val="0A314D">
              <a:alpha val="100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44600" y="1905000"/>
            <a:ext cx="1066800" cy="1066800"/>
          </a:xfrm>
          <a:prstGeom prst="rect">
            <a:avLst/>
          </a:prstGeom>
        </p:spPr>
      </p:pic>
      <p:sp>
        <p:nvSpPr>
          <p:cNvPr id="5" name="AutoShape 5"/>
          <p:cNvSpPr/>
          <p:nvPr/>
        </p:nvSpPr>
        <p:spPr>
          <a:xfrm>
            <a:off x="508000" y="3302000"/>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200">
                <a:solidFill>
                  <a:srgbClr val="FFFFFF">
                    <a:alpha val="70196"/>
                  </a:srgbClr>
                </a:solidFill>
                <a:latin typeface="Poppins"/>
                <a:ea typeface="Poppins"/>
                <a:cs typeface="Poppins"/>
                <a:sym typeface="Poppins"/>
              </a:rPr>
              <a:t>CORE ENTITY</a:t>
            </a:r>
            <a:endParaRPr lang="en-US" sz="1100"/>
          </a:p>
        </p:txBody>
      </p:sp>
      <p:sp>
        <p:nvSpPr>
          <p:cNvPr id="6" name="AutoShape 6"/>
          <p:cNvSpPr/>
          <p:nvPr/>
        </p:nvSpPr>
        <p:spPr>
          <a:xfrm>
            <a:off x="508000" y="3810000"/>
            <a:ext cx="254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Poppins"/>
                <a:ea typeface="Poppins"/>
                <a:cs typeface="Poppins"/>
                <a:sym typeface="Poppins"/>
              </a:rPr>
              <a:t>books</a:t>
            </a:r>
            <a:endParaRPr lang="en-US" sz="1100"/>
          </a:p>
        </p:txBody>
      </p:sp>
      <p:sp>
        <p:nvSpPr>
          <p:cNvPr id="7" name="AutoShape 7"/>
          <p:cNvSpPr/>
          <p:nvPr/>
        </p:nvSpPr>
        <p:spPr>
          <a:xfrm>
            <a:off x="508000" y="4953000"/>
            <a:ext cx="254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60000"/>
                  </a:srgbClr>
                </a:solidFill>
                <a:latin typeface="Poppins"/>
                <a:ea typeface="Poppins"/>
                <a:cs typeface="Poppins"/>
                <a:sym typeface="Poppins"/>
              </a:rPr>
              <a:t>Relational Database Schema</a:t>
            </a:r>
            <a:endParaRPr lang="en-US" sz="1100"/>
          </a:p>
        </p:txBody>
      </p:sp>
      <p:sp>
        <p:nvSpPr>
          <p:cNvPr id="8" name="AutoShape 8"/>
          <p:cNvSpPr/>
          <p:nvPr/>
        </p:nvSpPr>
        <p:spPr>
          <a:xfrm>
            <a:off x="3429000" y="139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9" name="AutoShape 9"/>
          <p:cNvSpPr/>
          <p:nvPr/>
        </p:nvSpPr>
        <p:spPr>
          <a:xfrm>
            <a:off x="3429000" y="139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83000" y="152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id</a:t>
            </a:r>
            <a:r>
              <a:rPr lang="en-US" sz="1300" b="0" i="0" u="none" strike="noStrike">
                <a:solidFill>
                  <a:srgbClr val="666666"/>
                </a:solidFill>
                <a:latin typeface="Poppins"/>
                <a:ea typeface="Poppins"/>
                <a:cs typeface="Poppins"/>
                <a:sym typeface="Poppins"/>
              </a:rPr>
              <a:t>/ INT (Integer)</a:t>
            </a:r>
            <a:endParaRPr lang="en-US" sz="1100"/>
          </a:p>
        </p:txBody>
      </p:sp>
      <p:sp>
        <p:nvSpPr>
          <p:cNvPr id="11" name="AutoShape 11"/>
          <p:cNvSpPr/>
          <p:nvPr/>
        </p:nvSpPr>
        <p:spPr>
          <a:xfrm>
            <a:off x="3683000" y="2032000"/>
            <a:ext cx="1143000" cy="304800"/>
          </a:xfrm>
          <a:prstGeom prst="roundRect">
            <a:avLst>
              <a:gd name="adj" fmla="val 16666"/>
            </a:avLst>
          </a:prstGeom>
          <a:solidFill>
            <a:srgbClr val="2A9D8F">
              <a:alpha val="1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683000" y="2032000"/>
            <a:ext cx="1143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2A9D8F"/>
                </a:solidFill>
                <a:latin typeface="Poppins"/>
                <a:ea typeface="Poppins"/>
                <a:cs typeface="Poppins"/>
                <a:sym typeface="Poppins"/>
              </a:rPr>
              <a:t>PRIMARY KEY</a:t>
            </a:r>
            <a:endParaRPr lang="en-US" sz="1100"/>
          </a:p>
        </p:txBody>
      </p:sp>
      <p:sp>
        <p:nvSpPr>
          <p:cNvPr id="13" name="AutoShape 13"/>
          <p:cNvSpPr/>
          <p:nvPr/>
        </p:nvSpPr>
        <p:spPr>
          <a:xfrm>
            <a:off x="3429000" y="266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4" name="AutoShape 14"/>
          <p:cNvSpPr/>
          <p:nvPr/>
        </p:nvSpPr>
        <p:spPr>
          <a:xfrm>
            <a:off x="3429000" y="266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3683000" y="279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title</a:t>
            </a:r>
            <a:r>
              <a:rPr lang="en-US" sz="1300" b="0" i="0" u="none" strike="noStrike">
                <a:solidFill>
                  <a:srgbClr val="666666"/>
                </a:solidFill>
                <a:latin typeface="Poppins"/>
                <a:ea typeface="Poppins"/>
                <a:cs typeface="Poppins"/>
                <a:sym typeface="Poppins"/>
              </a:rPr>
              <a:t>/ VARCHAR (255)</a:t>
            </a:r>
            <a:endParaRPr lang="en-US" sz="1100"/>
          </a:p>
        </p:txBody>
      </p:sp>
      <p:sp>
        <p:nvSpPr>
          <p:cNvPr id="16" name="AutoShape 16"/>
          <p:cNvSpPr/>
          <p:nvPr/>
        </p:nvSpPr>
        <p:spPr>
          <a:xfrm>
            <a:off x="3683000" y="3302000"/>
            <a:ext cx="889000" cy="304800"/>
          </a:xfrm>
          <a:prstGeom prst="roundRect">
            <a:avLst>
              <a:gd name="adj" fmla="val 16666"/>
            </a:avLst>
          </a:prstGeom>
          <a:solidFill>
            <a:srgbClr val="E9C46A">
              <a:alpha val="2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3683000" y="33020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C89628"/>
                </a:solidFill>
                <a:latin typeface="Poppins"/>
                <a:ea typeface="Poppins"/>
                <a:cs typeface="Poppins"/>
                <a:sym typeface="Poppins"/>
              </a:rPr>
              <a:t>INDEXED</a:t>
            </a:r>
            <a:endParaRPr lang="en-US" sz="1100"/>
          </a:p>
        </p:txBody>
      </p:sp>
      <p:sp>
        <p:nvSpPr>
          <p:cNvPr id="18" name="AutoShape 18"/>
          <p:cNvSpPr/>
          <p:nvPr/>
        </p:nvSpPr>
        <p:spPr>
          <a:xfrm>
            <a:off x="3429000" y="393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9" name="AutoShape 19"/>
          <p:cNvSpPr/>
          <p:nvPr/>
        </p:nvSpPr>
        <p:spPr>
          <a:xfrm>
            <a:off x="3429000" y="393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3683000" y="406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authors</a:t>
            </a:r>
            <a:r>
              <a:rPr lang="en-US" sz="1300" b="0" i="0" u="none" strike="noStrike">
                <a:solidFill>
                  <a:srgbClr val="666666"/>
                </a:solidFill>
                <a:latin typeface="Poppins"/>
                <a:ea typeface="Poppins"/>
                <a:cs typeface="Poppins"/>
                <a:sym typeface="Poppins"/>
              </a:rPr>
              <a:t>/ VARCHAR (255)</a:t>
            </a:r>
            <a:endParaRPr lang="en-US" sz="1100"/>
          </a:p>
        </p:txBody>
      </p:sp>
      <p:sp>
        <p:nvSpPr>
          <p:cNvPr id="21" name="AutoShape 21"/>
          <p:cNvSpPr/>
          <p:nvPr/>
        </p:nvSpPr>
        <p:spPr>
          <a:xfrm>
            <a:off x="3683000" y="4572000"/>
            <a:ext cx="330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69696"/>
                </a:solidFill>
                <a:latin typeface="Poppins"/>
                <a:ea typeface="Poppins"/>
                <a:cs typeface="Poppins"/>
                <a:sym typeface="Poppins"/>
              </a:rPr>
              <a:t>Stores author names separated by commas</a:t>
            </a:r>
            <a:endParaRPr lang="en-US" sz="1100"/>
          </a:p>
        </p:txBody>
      </p:sp>
      <p:sp>
        <p:nvSpPr>
          <p:cNvPr id="22" name="AutoShape 22"/>
          <p:cNvSpPr/>
          <p:nvPr/>
        </p:nvSpPr>
        <p:spPr>
          <a:xfrm>
            <a:off x="3429000" y="520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3" name="AutoShape 23"/>
          <p:cNvSpPr/>
          <p:nvPr/>
        </p:nvSpPr>
        <p:spPr>
          <a:xfrm>
            <a:off x="3429000" y="520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3683000" y="533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average_rating</a:t>
            </a:r>
            <a:r>
              <a:rPr lang="en-US" sz="1300" b="0" i="0" u="none" strike="noStrike">
                <a:solidFill>
                  <a:srgbClr val="666666"/>
                </a:solidFill>
                <a:latin typeface="Poppins"/>
                <a:ea typeface="Poppins"/>
                <a:cs typeface="Poppins"/>
                <a:sym typeface="Poppins"/>
              </a:rPr>
              <a:t>/ FLOAT</a:t>
            </a:r>
            <a:endParaRPr lang="en-US" sz="1100"/>
          </a:p>
        </p:txBody>
      </p:sp>
      <p:sp>
        <p:nvSpPr>
          <p:cNvPr id="25" name="AutoShape 25"/>
          <p:cNvSpPr/>
          <p:nvPr/>
        </p:nvSpPr>
        <p:spPr>
          <a:xfrm>
            <a:off x="3683000" y="5842000"/>
            <a:ext cx="889000" cy="304800"/>
          </a:xfrm>
          <a:prstGeom prst="roundRect">
            <a:avLst>
              <a:gd name="adj" fmla="val 16666"/>
            </a:avLst>
          </a:prstGeom>
          <a:solidFill>
            <a:srgbClr val="E9C46A">
              <a:alpha val="2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683000" y="5842000"/>
            <a:ext cx="88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C89628"/>
                </a:solidFill>
                <a:latin typeface="Poppins"/>
                <a:ea typeface="Poppins"/>
                <a:cs typeface="Poppins"/>
                <a:sym typeface="Poppins"/>
              </a:rPr>
              <a:t>INDEXED</a:t>
            </a:r>
            <a:endParaRPr lang="en-US" sz="1100"/>
          </a:p>
        </p:txBody>
      </p:sp>
      <p:sp>
        <p:nvSpPr>
          <p:cNvPr id="27" name="AutoShape 27"/>
          <p:cNvSpPr/>
          <p:nvPr/>
        </p:nvSpPr>
        <p:spPr>
          <a:xfrm>
            <a:off x="7493000" y="139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28" name="AutoShape 28"/>
          <p:cNvSpPr/>
          <p:nvPr/>
        </p:nvSpPr>
        <p:spPr>
          <a:xfrm>
            <a:off x="7493000" y="139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7747000" y="152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ratings_count</a:t>
            </a:r>
            <a:r>
              <a:rPr lang="en-US" sz="1300" b="0" i="0" u="none" strike="noStrike">
                <a:solidFill>
                  <a:srgbClr val="666666"/>
                </a:solidFill>
                <a:latin typeface="Poppins"/>
                <a:ea typeface="Poppins"/>
                <a:cs typeface="Poppins"/>
                <a:sym typeface="Poppins"/>
              </a:rPr>
              <a:t>/ INT (Integer)</a:t>
            </a:r>
            <a:endParaRPr lang="en-US" sz="1100"/>
          </a:p>
        </p:txBody>
      </p:sp>
      <p:sp>
        <p:nvSpPr>
          <p:cNvPr id="30" name="AutoShape 30"/>
          <p:cNvSpPr/>
          <p:nvPr/>
        </p:nvSpPr>
        <p:spPr>
          <a:xfrm>
            <a:off x="7747000" y="2032000"/>
            <a:ext cx="330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69696"/>
                </a:solidFill>
                <a:latin typeface="Poppins"/>
                <a:ea typeface="Poppins"/>
                <a:cs typeface="Poppins"/>
                <a:sym typeface="Poppins"/>
              </a:rPr>
              <a:t>Total number of user ratings</a:t>
            </a:r>
            <a:endParaRPr lang="en-US" sz="1100"/>
          </a:p>
        </p:txBody>
      </p:sp>
      <p:sp>
        <p:nvSpPr>
          <p:cNvPr id="31" name="AutoShape 31"/>
          <p:cNvSpPr/>
          <p:nvPr/>
        </p:nvSpPr>
        <p:spPr>
          <a:xfrm>
            <a:off x="7493000" y="266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32" name="AutoShape 32"/>
          <p:cNvSpPr/>
          <p:nvPr/>
        </p:nvSpPr>
        <p:spPr>
          <a:xfrm>
            <a:off x="7493000" y="266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7747000" y="279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publication_date</a:t>
            </a:r>
            <a:r>
              <a:rPr lang="en-US" sz="1300" b="0" i="0" u="none" strike="noStrike">
                <a:solidFill>
                  <a:srgbClr val="666666"/>
                </a:solidFill>
                <a:latin typeface="Poppins"/>
                <a:ea typeface="Poppins"/>
                <a:cs typeface="Poppins"/>
                <a:sym typeface="Poppins"/>
              </a:rPr>
              <a:t>/ DATE</a:t>
            </a:r>
            <a:endParaRPr lang="en-US" sz="1100"/>
          </a:p>
        </p:txBody>
      </p:sp>
      <p:sp>
        <p:nvSpPr>
          <p:cNvPr id="34" name="AutoShape 34"/>
          <p:cNvSpPr/>
          <p:nvPr/>
        </p:nvSpPr>
        <p:spPr>
          <a:xfrm>
            <a:off x="7747000" y="3302000"/>
            <a:ext cx="330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69696"/>
                </a:solidFill>
                <a:latin typeface="Poppins"/>
                <a:ea typeface="Poppins"/>
                <a:cs typeface="Poppins"/>
                <a:sym typeface="Poppins"/>
              </a:rPr>
              <a:t>Format: YYYY-MM-DD</a:t>
            </a:r>
            <a:endParaRPr lang="en-US" sz="1100"/>
          </a:p>
        </p:txBody>
      </p:sp>
      <p:sp>
        <p:nvSpPr>
          <p:cNvPr id="35" name="AutoShape 35"/>
          <p:cNvSpPr/>
          <p:nvPr/>
        </p:nvSpPr>
        <p:spPr>
          <a:xfrm>
            <a:off x="7493000" y="393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36" name="AutoShape 36"/>
          <p:cNvSpPr/>
          <p:nvPr/>
        </p:nvSpPr>
        <p:spPr>
          <a:xfrm>
            <a:off x="7493000" y="393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7747000" y="406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publisher</a:t>
            </a:r>
            <a:r>
              <a:rPr lang="en-US" sz="1300" b="0" i="0" u="none" strike="noStrike">
                <a:solidFill>
                  <a:srgbClr val="666666"/>
                </a:solidFill>
                <a:latin typeface="Poppins"/>
                <a:ea typeface="Poppins"/>
                <a:cs typeface="Poppins"/>
                <a:sym typeface="Poppins"/>
              </a:rPr>
              <a:t>/ VARCHAR (255)</a:t>
            </a:r>
            <a:endParaRPr lang="en-US" sz="1100"/>
          </a:p>
        </p:txBody>
      </p:sp>
      <p:sp>
        <p:nvSpPr>
          <p:cNvPr id="38" name="AutoShape 38"/>
          <p:cNvSpPr/>
          <p:nvPr/>
        </p:nvSpPr>
        <p:spPr>
          <a:xfrm>
            <a:off x="7747000" y="4572000"/>
            <a:ext cx="330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69696"/>
                </a:solidFill>
                <a:latin typeface="Poppins"/>
                <a:ea typeface="Poppins"/>
                <a:cs typeface="Poppins"/>
                <a:sym typeface="Poppins"/>
              </a:rPr>
              <a:t>Name of the publishing company</a:t>
            </a:r>
            <a:endParaRPr lang="en-US" sz="1100"/>
          </a:p>
        </p:txBody>
      </p:sp>
      <p:sp>
        <p:nvSpPr>
          <p:cNvPr id="39" name="AutoShape 39"/>
          <p:cNvSpPr/>
          <p:nvPr/>
        </p:nvSpPr>
        <p:spPr>
          <a:xfrm>
            <a:off x="7493000" y="5207000"/>
            <a:ext cx="3810000" cy="1079500"/>
          </a:xfrm>
          <a:prstGeom prst="roundRect">
            <a:avLst>
              <a:gd name="adj" fmla="val 9411"/>
            </a:avLst>
          </a:prstGeom>
          <a:solidFill>
            <a:srgbClr val="F5F7FA">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40" name="AutoShape 40"/>
          <p:cNvSpPr/>
          <p:nvPr/>
        </p:nvSpPr>
        <p:spPr>
          <a:xfrm>
            <a:off x="7493000" y="5207000"/>
            <a:ext cx="76200" cy="10795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7747000" y="5334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isbn</a:t>
            </a:r>
            <a:r>
              <a:rPr lang="en-US" sz="1300" b="0" i="0" u="none" strike="noStrike">
                <a:solidFill>
                  <a:srgbClr val="666666"/>
                </a:solidFill>
                <a:latin typeface="Poppins"/>
                <a:ea typeface="Poppins"/>
                <a:cs typeface="Poppins"/>
                <a:sym typeface="Poppins"/>
              </a:rPr>
              <a:t>/ VARCHAR (20)</a:t>
            </a:r>
            <a:endParaRPr lang="en-US" sz="1100"/>
          </a:p>
        </p:txBody>
      </p:sp>
      <p:sp>
        <p:nvSpPr>
          <p:cNvPr id="42" name="AutoShape 42"/>
          <p:cNvSpPr/>
          <p:nvPr/>
        </p:nvSpPr>
        <p:spPr>
          <a:xfrm>
            <a:off x="7747000" y="5842000"/>
            <a:ext cx="330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69696"/>
                </a:solidFill>
                <a:latin typeface="Poppins"/>
                <a:ea typeface="Poppins"/>
                <a:cs typeface="Poppins"/>
                <a:sym typeface="Poppins"/>
              </a:rPr>
              <a:t>International Standard Book Number</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Core API: CRUD Operations</a:t>
            </a:r>
            <a:endParaRPr lang="en-US" sz="1100"/>
          </a:p>
        </p:txBody>
      </p:sp>
      <p:sp>
        <p:nvSpPr>
          <p:cNvPr id="3" name="AutoShape 3"/>
          <p:cNvSpPr/>
          <p:nvPr/>
        </p:nvSpPr>
        <p:spPr>
          <a:xfrm>
            <a:off x="508000" y="1270000"/>
            <a:ext cx="5334000" cy="952500"/>
          </a:xfrm>
          <a:prstGeom prst="roundRect">
            <a:avLst>
              <a:gd name="adj" fmla="val 16000"/>
            </a:avLst>
          </a:prstGeom>
          <a:solidFill>
            <a:srgbClr val="0A314D">
              <a:alpha val="6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511300"/>
            <a:ext cx="457200" cy="457200"/>
          </a:xfrm>
          <a:prstGeom prst="rect">
            <a:avLst/>
          </a:prstGeom>
        </p:spPr>
      </p:pic>
      <p:sp>
        <p:nvSpPr>
          <p:cNvPr id="5" name="AutoShape 5"/>
          <p:cNvSpPr/>
          <p:nvPr/>
        </p:nvSpPr>
        <p:spPr>
          <a:xfrm>
            <a:off x="1397000" y="1397000"/>
            <a:ext cx="4191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CREATE OPERATION</a:t>
            </a:r>
            <a:endParaRPr lang="en-US" sz="1100"/>
          </a:p>
        </p:txBody>
      </p:sp>
      <p:sp>
        <p:nvSpPr>
          <p:cNvPr id="6" name="AutoShape 6"/>
          <p:cNvSpPr/>
          <p:nvPr/>
        </p:nvSpPr>
        <p:spPr>
          <a:xfrm>
            <a:off x="1397000" y="1701800"/>
            <a:ext cx="419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2D3748"/>
                </a:solidFill>
                <a:latin typeface="Source Code Pro"/>
                <a:ea typeface="Source Code Pro"/>
                <a:cs typeface="Source Code Pro"/>
                <a:sym typeface="Source Code Pro"/>
              </a:rPr>
              <a:t>POST /books</a:t>
            </a:r>
            <a:endParaRPr lang="en-US" sz="1100"/>
          </a:p>
        </p:txBody>
      </p:sp>
      <p:sp>
        <p:nvSpPr>
          <p:cNvPr id="7" name="AutoShape 7"/>
          <p:cNvSpPr/>
          <p:nvPr/>
        </p:nvSpPr>
        <p:spPr>
          <a:xfrm>
            <a:off x="1397000" y="1981200"/>
            <a:ext cx="4191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Poppins"/>
                <a:ea typeface="Poppins"/>
                <a:cs typeface="Poppins"/>
                <a:sym typeface="Poppins"/>
              </a:rPr>
              <a:t>Add a new book to the collection. Response: 201 Created</a:t>
            </a:r>
            <a:endParaRPr lang="en-US" sz="1100"/>
          </a:p>
        </p:txBody>
      </p:sp>
      <p:sp>
        <p:nvSpPr>
          <p:cNvPr id="8" name="AutoShape 8"/>
          <p:cNvSpPr/>
          <p:nvPr/>
        </p:nvSpPr>
        <p:spPr>
          <a:xfrm>
            <a:off x="508000" y="2349500"/>
            <a:ext cx="5334000" cy="952500"/>
          </a:xfrm>
          <a:prstGeom prst="roundRect">
            <a:avLst>
              <a:gd name="adj" fmla="val 16000"/>
            </a:avLst>
          </a:prstGeom>
          <a:solidFill>
            <a:srgbClr val="0A314D">
              <a:alpha val="6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590800"/>
            <a:ext cx="457200" cy="457200"/>
          </a:xfrm>
          <a:prstGeom prst="rect">
            <a:avLst/>
          </a:prstGeom>
        </p:spPr>
      </p:pic>
      <p:sp>
        <p:nvSpPr>
          <p:cNvPr id="10" name="AutoShape 10"/>
          <p:cNvSpPr/>
          <p:nvPr/>
        </p:nvSpPr>
        <p:spPr>
          <a:xfrm>
            <a:off x="1397000" y="2476500"/>
            <a:ext cx="4191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READ (COLLECTION)</a:t>
            </a:r>
            <a:endParaRPr lang="en-US" sz="1100"/>
          </a:p>
        </p:txBody>
      </p:sp>
      <p:sp>
        <p:nvSpPr>
          <p:cNvPr id="11" name="AutoShape 11"/>
          <p:cNvSpPr/>
          <p:nvPr/>
        </p:nvSpPr>
        <p:spPr>
          <a:xfrm>
            <a:off x="1397000" y="2781300"/>
            <a:ext cx="419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2D3748"/>
                </a:solidFill>
                <a:latin typeface="Source Code Pro"/>
                <a:ea typeface="Source Code Pro"/>
                <a:cs typeface="Source Code Pro"/>
                <a:sym typeface="Source Code Pro"/>
              </a:rPr>
              <a:t>GET /books</a:t>
            </a:r>
            <a:endParaRPr lang="en-US" sz="1100"/>
          </a:p>
        </p:txBody>
      </p:sp>
      <p:sp>
        <p:nvSpPr>
          <p:cNvPr id="12" name="AutoShape 12"/>
          <p:cNvSpPr/>
          <p:nvPr/>
        </p:nvSpPr>
        <p:spPr>
          <a:xfrm>
            <a:off x="1397000" y="3060700"/>
            <a:ext cx="4191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Poppins"/>
                <a:ea typeface="Poppins"/>
                <a:cs typeface="Poppins"/>
                <a:sym typeface="Poppins"/>
              </a:rPr>
              <a:t>Retrieve paginated list of all books. Response: 200 OK</a:t>
            </a:r>
            <a:endParaRPr lang="en-US" sz="1100"/>
          </a:p>
        </p:txBody>
      </p:sp>
      <p:sp>
        <p:nvSpPr>
          <p:cNvPr id="13" name="AutoShape 13"/>
          <p:cNvSpPr/>
          <p:nvPr/>
        </p:nvSpPr>
        <p:spPr>
          <a:xfrm>
            <a:off x="508000" y="3429000"/>
            <a:ext cx="5334000" cy="952500"/>
          </a:xfrm>
          <a:prstGeom prst="roundRect">
            <a:avLst>
              <a:gd name="adj" fmla="val 16000"/>
            </a:avLst>
          </a:prstGeom>
          <a:solidFill>
            <a:srgbClr val="0A314D">
              <a:alpha val="6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3670300"/>
            <a:ext cx="457200" cy="457200"/>
          </a:xfrm>
          <a:prstGeom prst="rect">
            <a:avLst/>
          </a:prstGeom>
        </p:spPr>
      </p:pic>
      <p:sp>
        <p:nvSpPr>
          <p:cNvPr id="15" name="AutoShape 15"/>
          <p:cNvSpPr/>
          <p:nvPr/>
        </p:nvSpPr>
        <p:spPr>
          <a:xfrm>
            <a:off x="1397000" y="3556000"/>
            <a:ext cx="4191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READ (SINGLE)</a:t>
            </a:r>
            <a:endParaRPr lang="en-US" sz="1100"/>
          </a:p>
        </p:txBody>
      </p:sp>
      <p:sp>
        <p:nvSpPr>
          <p:cNvPr id="16" name="AutoShape 16"/>
          <p:cNvSpPr/>
          <p:nvPr/>
        </p:nvSpPr>
        <p:spPr>
          <a:xfrm>
            <a:off x="1397000" y="3860800"/>
            <a:ext cx="419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2D3748"/>
                </a:solidFill>
                <a:latin typeface="Source Code Pro"/>
                <a:ea typeface="Source Code Pro"/>
                <a:cs typeface="Source Code Pro"/>
                <a:sym typeface="Source Code Pro"/>
              </a:rPr>
              <a:t>GET /books/{id}</a:t>
            </a:r>
            <a:endParaRPr lang="en-US" sz="1100"/>
          </a:p>
        </p:txBody>
      </p:sp>
      <p:sp>
        <p:nvSpPr>
          <p:cNvPr id="17" name="AutoShape 17"/>
          <p:cNvSpPr/>
          <p:nvPr/>
        </p:nvSpPr>
        <p:spPr>
          <a:xfrm>
            <a:off x="1397000" y="4140200"/>
            <a:ext cx="4191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Poppins"/>
                <a:ea typeface="Poppins"/>
                <a:cs typeface="Poppins"/>
                <a:sym typeface="Poppins"/>
              </a:rPr>
              <a:t>Fetch a specific book by its ID. Response: 200 OK</a:t>
            </a:r>
            <a:endParaRPr lang="en-US" sz="1100"/>
          </a:p>
        </p:txBody>
      </p:sp>
      <p:sp>
        <p:nvSpPr>
          <p:cNvPr id="18" name="AutoShape 18"/>
          <p:cNvSpPr/>
          <p:nvPr/>
        </p:nvSpPr>
        <p:spPr>
          <a:xfrm>
            <a:off x="508000" y="4508500"/>
            <a:ext cx="5334000" cy="952500"/>
          </a:xfrm>
          <a:prstGeom prst="roundRect">
            <a:avLst>
              <a:gd name="adj" fmla="val 16000"/>
            </a:avLst>
          </a:prstGeom>
          <a:solidFill>
            <a:srgbClr val="0A314D">
              <a:alpha val="6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4749800"/>
            <a:ext cx="457200" cy="457200"/>
          </a:xfrm>
          <a:prstGeom prst="rect">
            <a:avLst/>
          </a:prstGeom>
        </p:spPr>
      </p:pic>
      <p:sp>
        <p:nvSpPr>
          <p:cNvPr id="20" name="AutoShape 20"/>
          <p:cNvSpPr/>
          <p:nvPr/>
        </p:nvSpPr>
        <p:spPr>
          <a:xfrm>
            <a:off x="1397000" y="4635500"/>
            <a:ext cx="4191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UPDATE OPERATION</a:t>
            </a:r>
            <a:endParaRPr lang="en-US" sz="1100"/>
          </a:p>
        </p:txBody>
      </p:sp>
      <p:sp>
        <p:nvSpPr>
          <p:cNvPr id="21" name="AutoShape 21"/>
          <p:cNvSpPr/>
          <p:nvPr/>
        </p:nvSpPr>
        <p:spPr>
          <a:xfrm>
            <a:off x="1397000" y="4940300"/>
            <a:ext cx="419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2D3748"/>
                </a:solidFill>
                <a:latin typeface="Source Code Pro"/>
                <a:ea typeface="Source Code Pro"/>
                <a:cs typeface="Source Code Pro"/>
                <a:sym typeface="Source Code Pro"/>
              </a:rPr>
              <a:t>PUT /books/{id}</a:t>
            </a:r>
            <a:endParaRPr lang="en-US" sz="1100"/>
          </a:p>
        </p:txBody>
      </p:sp>
      <p:sp>
        <p:nvSpPr>
          <p:cNvPr id="22" name="AutoShape 22"/>
          <p:cNvSpPr/>
          <p:nvPr/>
        </p:nvSpPr>
        <p:spPr>
          <a:xfrm>
            <a:off x="1397000" y="5219700"/>
            <a:ext cx="4191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18096"/>
                </a:solidFill>
                <a:latin typeface="Poppins"/>
                <a:ea typeface="Poppins"/>
                <a:cs typeface="Poppins"/>
                <a:sym typeface="Poppins"/>
              </a:rPr>
              <a:t>Modify an existing book's details. Response: 200 OK</a:t>
            </a:r>
            <a:endParaRPr lang="en-US" sz="1100"/>
          </a:p>
        </p:txBody>
      </p:sp>
      <p:sp>
        <p:nvSpPr>
          <p:cNvPr id="23" name="AutoShape 23"/>
          <p:cNvSpPr/>
          <p:nvPr/>
        </p:nvSpPr>
        <p:spPr>
          <a:xfrm>
            <a:off x="508000" y="5588000"/>
            <a:ext cx="5334000" cy="952500"/>
          </a:xfrm>
          <a:prstGeom prst="roundRect">
            <a:avLst>
              <a:gd name="adj" fmla="val 16000"/>
            </a:avLst>
          </a:prstGeom>
          <a:solidFill>
            <a:srgbClr val="0A314D">
              <a:alpha val="6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500" y="5829300"/>
            <a:ext cx="457200" cy="457200"/>
          </a:xfrm>
          <a:prstGeom prst="rect">
            <a:avLst/>
          </a:prstGeom>
        </p:spPr>
      </p:pic>
      <p:sp>
        <p:nvSpPr>
          <p:cNvPr id="25" name="AutoShape 25"/>
          <p:cNvSpPr/>
          <p:nvPr/>
        </p:nvSpPr>
        <p:spPr>
          <a:xfrm>
            <a:off x="1397000" y="5715000"/>
            <a:ext cx="4191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DELETE OPERATION</a:t>
            </a:r>
            <a:endParaRPr lang="en-US" sz="1100"/>
          </a:p>
        </p:txBody>
      </p:sp>
      <p:sp>
        <p:nvSpPr>
          <p:cNvPr id="26" name="AutoShape 26"/>
          <p:cNvSpPr/>
          <p:nvPr/>
        </p:nvSpPr>
        <p:spPr>
          <a:xfrm>
            <a:off x="1397000" y="6019800"/>
            <a:ext cx="4191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2D3748"/>
                </a:solidFill>
                <a:latin typeface="Source Code Pro"/>
                <a:ea typeface="Source Code Pro"/>
                <a:cs typeface="Source Code Pro"/>
                <a:sym typeface="Source Code Pro"/>
              </a:rPr>
              <a:t>DELETE /books/{id}</a:t>
            </a:r>
            <a:endParaRPr lang="en-US" sz="1100"/>
          </a:p>
        </p:txBody>
      </p:sp>
      <p:sp>
        <p:nvSpPr>
          <p:cNvPr id="27" name="AutoShape 27"/>
          <p:cNvSpPr/>
          <p:nvPr/>
        </p:nvSpPr>
        <p:spPr>
          <a:xfrm>
            <a:off x="6096000" y="1270000"/>
            <a:ext cx="5461000" cy="5270500"/>
          </a:xfrm>
          <a:prstGeom prst="roundRect">
            <a:avLst>
              <a:gd name="adj" fmla="val 3855"/>
            </a:avLst>
          </a:prstGeom>
          <a:solidFill>
            <a:srgbClr val="0A314D">
              <a:alpha val="100000"/>
            </a:srgbClr>
          </a:solidFill>
          <a:ln w="25400" cap="flat" cmpd="sng">
            <a:noFill/>
            <a:prstDash val="solid"/>
            <a:round/>
          </a:ln>
          <a:effectLst>
            <a:outerShdw blurRad="190500" dist="50800" dir="2700000" algn="tl" rotWithShape="0">
              <a:srgbClr val="000000">
                <a:alpha val="20000"/>
              </a:srgbClr>
            </a:outerShdw>
          </a:effectLst>
        </p:spPr>
        <p:txBody>
          <a:bodyPr vert="horz" wrap="square" lIns="63500" tIns="63500" rIns="63500" bIns="63500" rtlCol="0" anchor="ctr"/>
          <a:lstStyle/>
          <a:p>
            <a:pPr algn="ctr">
              <a:defRPr/>
            </a:pPr>
          </a:p>
        </p:txBody>
      </p:sp>
      <p:sp>
        <p:nvSpPr>
          <p:cNvPr id="28" name="AutoShape 28"/>
          <p:cNvSpPr/>
          <p:nvPr/>
        </p:nvSpPr>
        <p:spPr>
          <a:xfrm>
            <a:off x="6350000" y="1524000"/>
            <a:ext cx="495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Poppins"/>
                <a:ea typeface="Poppins"/>
                <a:cs typeface="Poppins"/>
                <a:sym typeface="Poppins"/>
              </a:rPr>
              <a:t>Unified JSON Response Format</a:t>
            </a:r>
            <a:endParaRPr lang="en-US" sz="1100"/>
          </a:p>
        </p:txBody>
      </p:sp>
      <p:sp>
        <p:nvSpPr>
          <p:cNvPr id="29" name="AutoShape 29"/>
          <p:cNvSpPr/>
          <p:nvPr/>
        </p:nvSpPr>
        <p:spPr>
          <a:xfrm>
            <a:off x="6350000" y="2159000"/>
            <a:ext cx="4953000" cy="1714500"/>
          </a:xfrm>
          <a:prstGeom prst="roundRect">
            <a:avLst>
              <a:gd name="adj" fmla="val 8888"/>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540500" y="2349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0B981"/>
                </a:solidFill>
                <a:latin typeface="Poppins"/>
                <a:ea typeface="Poppins"/>
                <a:cs typeface="Poppins"/>
                <a:sym typeface="Poppins"/>
              </a:rPr>
              <a:t>✅ SUCCESS (2xx Status)</a:t>
            </a:r>
            <a:endParaRPr lang="en-US" sz="1100"/>
          </a:p>
        </p:txBody>
      </p:sp>
      <p:sp>
        <p:nvSpPr>
          <p:cNvPr id="31" name="AutoShape 31"/>
          <p:cNvSpPr/>
          <p:nvPr/>
        </p:nvSpPr>
        <p:spPr>
          <a:xfrm>
            <a:off x="6540500" y="2794000"/>
            <a:ext cx="4572000" cy="889000"/>
          </a:xfrm>
          <a:prstGeom prst="roundRect">
            <a:avLst>
              <a:gd name="adj" fmla="val 1142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667500" y="28956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endParaRPr lang="en-US" sz="1100"/>
          </a:p>
        </p:txBody>
      </p:sp>
      <p:sp>
        <p:nvSpPr>
          <p:cNvPr id="33" name="AutoShape 33"/>
          <p:cNvSpPr/>
          <p:nvPr/>
        </p:nvSpPr>
        <p:spPr>
          <a:xfrm>
            <a:off x="6350000" y="4064000"/>
            <a:ext cx="4953000" cy="1714500"/>
          </a:xfrm>
          <a:prstGeom prst="roundRect">
            <a:avLst>
              <a:gd name="adj" fmla="val 8888"/>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540500" y="4254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F4444"/>
                </a:solidFill>
                <a:latin typeface="Poppins"/>
                <a:ea typeface="Poppins"/>
                <a:cs typeface="Poppins"/>
                <a:sym typeface="Poppins"/>
              </a:rPr>
              <a:t>❌ ERROR (4xx / 5xx Status)</a:t>
            </a:r>
            <a:endParaRPr lang="en-US" sz="1100"/>
          </a:p>
        </p:txBody>
      </p:sp>
      <p:sp>
        <p:nvSpPr>
          <p:cNvPr id="35" name="AutoShape 35"/>
          <p:cNvSpPr/>
          <p:nvPr/>
        </p:nvSpPr>
        <p:spPr>
          <a:xfrm>
            <a:off x="6540500" y="4699000"/>
            <a:ext cx="4572000" cy="889000"/>
          </a:xfrm>
          <a:prstGeom prst="roundRect">
            <a:avLst>
              <a:gd name="adj" fmla="val 11428"/>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667500" y="48006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endParaRPr lang="en-US" sz="1100"/>
          </a:p>
        </p:txBody>
      </p:sp>
      <p:pic>
        <p:nvPicPr>
          <p:cNvPr id="37" name="图片 36"/>
          <p:cNvPicPr>
            <a:picLocks noChangeAspect="1"/>
          </p:cNvPicPr>
          <p:nvPr/>
        </p:nvPicPr>
        <p:blipFill>
          <a:blip r:embed="rId11"/>
          <a:stretch>
            <a:fillRect/>
          </a:stretch>
        </p:blipFill>
        <p:spPr>
          <a:xfrm>
            <a:off x="6540500" y="4684395"/>
            <a:ext cx="2920365" cy="903605"/>
          </a:xfrm>
          <a:prstGeom prst="rect">
            <a:avLst/>
          </a:prstGeom>
        </p:spPr>
      </p:pic>
      <p:pic>
        <p:nvPicPr>
          <p:cNvPr id="38" name="图片 37"/>
          <p:cNvPicPr>
            <a:picLocks noChangeAspect="1"/>
          </p:cNvPicPr>
          <p:nvPr/>
        </p:nvPicPr>
        <p:blipFill>
          <a:blip r:embed="rId12"/>
          <a:stretch>
            <a:fillRect/>
          </a:stretch>
        </p:blipFill>
        <p:spPr>
          <a:xfrm>
            <a:off x="6601460" y="2781300"/>
            <a:ext cx="2859405" cy="9258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V3 Features: Advanced Querying</a:t>
            </a:r>
            <a:endParaRPr lang="en-US" sz="1100"/>
          </a:p>
        </p:txBody>
      </p:sp>
      <p:sp>
        <p:nvSpPr>
          <p:cNvPr id="3" name="AutoShape 3"/>
          <p:cNvSpPr/>
          <p:nvPr/>
        </p:nvSpPr>
        <p:spPr>
          <a:xfrm>
            <a:off x="508000" y="1270000"/>
            <a:ext cx="5334000" cy="1143000"/>
          </a:xfrm>
          <a:prstGeom prst="roundRect">
            <a:avLst>
              <a:gd name="adj" fmla="val 13333"/>
            </a:avLst>
          </a:prstGeom>
          <a:solidFill>
            <a:srgbClr val="F1F5F9">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762000" y="1536700"/>
            <a:ext cx="609600" cy="609600"/>
          </a:xfrm>
          <a:prstGeom prst="ellipse">
            <a:avLst/>
          </a:prstGeom>
          <a:solidFill>
            <a:srgbClr val="E0EB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1663700"/>
            <a:ext cx="355600" cy="355600"/>
          </a:xfrm>
          <a:prstGeom prst="rect">
            <a:avLst/>
          </a:prstGeom>
        </p:spPr>
      </p:pic>
      <p:sp>
        <p:nvSpPr>
          <p:cNvPr id="6" name="AutoShape 6"/>
          <p:cNvSpPr/>
          <p:nvPr/>
        </p:nvSpPr>
        <p:spPr>
          <a:xfrm>
            <a:off x="1651000" y="14605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Pagination</a:t>
            </a:r>
            <a:endParaRPr lang="en-US" sz="1100"/>
          </a:p>
        </p:txBody>
      </p:sp>
      <p:sp>
        <p:nvSpPr>
          <p:cNvPr id="7" name="AutoShape 7"/>
          <p:cNvSpPr/>
          <p:nvPr/>
        </p:nvSpPr>
        <p:spPr>
          <a:xfrm>
            <a:off x="1651000" y="1905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25252"/>
                </a:solidFill>
                <a:latin typeface="Poppins"/>
                <a:ea typeface="Poppins"/>
                <a:cs typeface="Poppins"/>
                <a:sym typeface="Poppins"/>
              </a:rPr>
              <a:t>Use `page` and `size` parameters to limit result sets and navigate through large data volumes.</a:t>
            </a:r>
            <a:endParaRPr lang="en-US" sz="1100"/>
          </a:p>
        </p:txBody>
      </p:sp>
      <p:sp>
        <p:nvSpPr>
          <p:cNvPr id="8" name="AutoShape 8"/>
          <p:cNvSpPr/>
          <p:nvPr/>
        </p:nvSpPr>
        <p:spPr>
          <a:xfrm>
            <a:off x="508000" y="2603500"/>
            <a:ext cx="5334000" cy="1143000"/>
          </a:xfrm>
          <a:prstGeom prst="roundRect">
            <a:avLst>
              <a:gd name="adj" fmla="val 13333"/>
            </a:avLst>
          </a:prstGeom>
          <a:solidFill>
            <a:srgbClr val="F1F5F9">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762000" y="2870200"/>
            <a:ext cx="609600" cy="609600"/>
          </a:xfrm>
          <a:prstGeom prst="ellipse">
            <a:avLst/>
          </a:prstGeom>
          <a:solidFill>
            <a:srgbClr val="E0EB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2997200"/>
            <a:ext cx="355600" cy="355600"/>
          </a:xfrm>
          <a:prstGeom prst="rect">
            <a:avLst/>
          </a:prstGeom>
        </p:spPr>
      </p:pic>
      <p:sp>
        <p:nvSpPr>
          <p:cNvPr id="11" name="AutoShape 11"/>
          <p:cNvSpPr/>
          <p:nvPr/>
        </p:nvSpPr>
        <p:spPr>
          <a:xfrm>
            <a:off x="1651000" y="27940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Filtering</a:t>
            </a:r>
            <a:endParaRPr lang="en-US" sz="1100"/>
          </a:p>
        </p:txBody>
      </p:sp>
      <p:sp>
        <p:nvSpPr>
          <p:cNvPr id="12" name="AutoShape 12"/>
          <p:cNvSpPr/>
          <p:nvPr/>
        </p:nvSpPr>
        <p:spPr>
          <a:xfrm>
            <a:off x="1651000" y="3238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25252"/>
                </a:solidFill>
                <a:latin typeface="Poppins"/>
                <a:ea typeface="Poppins"/>
                <a:cs typeface="Poppins"/>
                <a:sym typeface="Poppins"/>
              </a:rPr>
              <a:t>Precisely narrow down results using field-specific filters (e.g., by author, publisher, or publication date).</a:t>
            </a:r>
            <a:endParaRPr lang="en-US" sz="1100"/>
          </a:p>
        </p:txBody>
      </p:sp>
      <p:sp>
        <p:nvSpPr>
          <p:cNvPr id="13" name="AutoShape 13"/>
          <p:cNvSpPr/>
          <p:nvPr/>
        </p:nvSpPr>
        <p:spPr>
          <a:xfrm>
            <a:off x="508000" y="3937000"/>
            <a:ext cx="5334000" cy="1143000"/>
          </a:xfrm>
          <a:prstGeom prst="roundRect">
            <a:avLst>
              <a:gd name="adj" fmla="val 13333"/>
            </a:avLst>
          </a:prstGeom>
          <a:solidFill>
            <a:srgbClr val="F1F5F9">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762000" y="4203700"/>
            <a:ext cx="609600" cy="609600"/>
          </a:xfrm>
          <a:prstGeom prst="ellipse">
            <a:avLst/>
          </a:prstGeom>
          <a:solidFill>
            <a:srgbClr val="E0EB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4330700"/>
            <a:ext cx="355600" cy="355600"/>
          </a:xfrm>
          <a:prstGeom prst="rect">
            <a:avLst/>
          </a:prstGeom>
        </p:spPr>
      </p:pic>
      <p:sp>
        <p:nvSpPr>
          <p:cNvPr id="16" name="AutoShape 16"/>
          <p:cNvSpPr/>
          <p:nvPr/>
        </p:nvSpPr>
        <p:spPr>
          <a:xfrm>
            <a:off x="1651000" y="41275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Sorting</a:t>
            </a:r>
            <a:endParaRPr lang="en-US" sz="1100"/>
          </a:p>
        </p:txBody>
      </p:sp>
      <p:sp>
        <p:nvSpPr>
          <p:cNvPr id="17" name="AutoShape 17"/>
          <p:cNvSpPr/>
          <p:nvPr/>
        </p:nvSpPr>
        <p:spPr>
          <a:xfrm>
            <a:off x="1651000" y="4572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25252"/>
                </a:solidFill>
                <a:latin typeface="Poppins"/>
                <a:ea typeface="Poppins"/>
                <a:cs typeface="Poppins"/>
                <a:sym typeface="Poppins"/>
              </a:rPr>
              <a:t>Control result order with `sort` (field name) and `order` (asc/desc) parameters for optimal presentation.</a:t>
            </a:r>
            <a:endParaRPr lang="en-US" sz="1100"/>
          </a:p>
        </p:txBody>
      </p:sp>
      <p:sp>
        <p:nvSpPr>
          <p:cNvPr id="18" name="AutoShape 18"/>
          <p:cNvSpPr/>
          <p:nvPr/>
        </p:nvSpPr>
        <p:spPr>
          <a:xfrm>
            <a:off x="508000" y="5270500"/>
            <a:ext cx="5334000" cy="1143000"/>
          </a:xfrm>
          <a:prstGeom prst="roundRect">
            <a:avLst>
              <a:gd name="adj" fmla="val 13333"/>
            </a:avLst>
          </a:prstGeom>
          <a:solidFill>
            <a:srgbClr val="F1F5F9">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9" name="AutoShape 19"/>
          <p:cNvSpPr/>
          <p:nvPr/>
        </p:nvSpPr>
        <p:spPr>
          <a:xfrm>
            <a:off x="762000" y="5537200"/>
            <a:ext cx="609600" cy="609600"/>
          </a:xfrm>
          <a:prstGeom prst="ellipse">
            <a:avLst/>
          </a:prstGeom>
          <a:solidFill>
            <a:srgbClr val="E0EBF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9000" y="5664200"/>
            <a:ext cx="355600" cy="355600"/>
          </a:xfrm>
          <a:prstGeom prst="rect">
            <a:avLst/>
          </a:prstGeom>
        </p:spPr>
      </p:pic>
      <p:sp>
        <p:nvSpPr>
          <p:cNvPr id="21" name="AutoShape 21"/>
          <p:cNvSpPr/>
          <p:nvPr/>
        </p:nvSpPr>
        <p:spPr>
          <a:xfrm>
            <a:off x="1651000" y="5461000"/>
            <a:ext cx="393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Unified Response Schema</a:t>
            </a:r>
            <a:endParaRPr lang="en-US" sz="1100"/>
          </a:p>
        </p:txBody>
      </p:sp>
      <p:sp>
        <p:nvSpPr>
          <p:cNvPr id="22" name="AutoShape 22"/>
          <p:cNvSpPr/>
          <p:nvPr/>
        </p:nvSpPr>
        <p:spPr>
          <a:xfrm>
            <a:off x="1651000" y="5905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25252"/>
                </a:solidFill>
                <a:latin typeface="Poppins"/>
                <a:ea typeface="Poppins"/>
                <a:cs typeface="Poppins"/>
                <a:sym typeface="Poppins"/>
              </a:rPr>
              <a:t>Standardized list responses include `total`, `page`, and `size` metadata for consistent client-side handling.</a:t>
            </a:r>
            <a:endParaRPr lang="en-US" sz="1100"/>
          </a:p>
        </p:txBody>
      </p:sp>
      <p:sp>
        <p:nvSpPr>
          <p:cNvPr id="23" name="AutoShape 23"/>
          <p:cNvSpPr/>
          <p:nvPr/>
        </p:nvSpPr>
        <p:spPr>
          <a:xfrm>
            <a:off x="6096000" y="1270000"/>
            <a:ext cx="5588000" cy="1778000"/>
          </a:xfrm>
          <a:prstGeom prst="roundRect">
            <a:avLst>
              <a:gd name="adj" fmla="val 8571"/>
            </a:avLst>
          </a:prstGeom>
          <a:solidFill>
            <a:srgbClr val="0A314D">
              <a:alpha val="100000"/>
            </a:srgbClr>
          </a:solidFill>
          <a:ln w="25400" cap="flat" cmpd="sng">
            <a:noFill/>
            <a:prstDash val="solid"/>
            <a:round/>
          </a:ln>
          <a:effectLst>
            <a:outerShdw blurRad="190500" dist="76200" dir="5400000" algn="tl" rotWithShape="0">
              <a:srgbClr val="000000">
                <a:alpha val="12000"/>
              </a:srgbClr>
            </a:outerShdw>
          </a:effectLst>
        </p:spPr>
        <p:txBody>
          <a:bodyPr vert="horz" wrap="square" lIns="63500" tIns="63500" rIns="63500" bIns="63500" rtlCol="0" anchor="ctr"/>
          <a:lstStyle/>
          <a:p>
            <a:pPr algn="ctr">
              <a:defRPr/>
            </a:pPr>
          </a:p>
        </p:txBody>
      </p:sp>
      <p:sp>
        <p:nvSpPr>
          <p:cNvPr id="24" name="AutoShape 24"/>
          <p:cNvSpPr/>
          <p:nvPr/>
        </p:nvSpPr>
        <p:spPr>
          <a:xfrm>
            <a:off x="6350000" y="1460500"/>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Example API Request</a:t>
            </a:r>
            <a:endParaRPr lang="en-US" sz="1100"/>
          </a:p>
        </p:txBody>
      </p:sp>
      <p:sp>
        <p:nvSpPr>
          <p:cNvPr id="25" name="AutoShape 25"/>
          <p:cNvSpPr/>
          <p:nvPr/>
        </p:nvSpPr>
        <p:spPr>
          <a:xfrm>
            <a:off x="6350000" y="1905000"/>
            <a:ext cx="5080000" cy="952500"/>
          </a:xfrm>
          <a:prstGeom prst="roundRect">
            <a:avLst>
              <a:gd name="adj" fmla="val 10666"/>
            </a:avLst>
          </a:prstGeom>
          <a:solidFill>
            <a:srgbClr val="F8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477000" y="2032000"/>
            <a:ext cx="4826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
        <p:nvSpPr>
          <p:cNvPr id="27" name="AutoShape 27"/>
          <p:cNvSpPr/>
          <p:nvPr/>
        </p:nvSpPr>
        <p:spPr>
          <a:xfrm>
            <a:off x="6096000" y="3302000"/>
            <a:ext cx="5588000" cy="2540000"/>
          </a:xfrm>
          <a:prstGeom prst="roundRect">
            <a:avLst>
              <a:gd name="adj" fmla="val 6000"/>
            </a:avLst>
          </a:prstGeom>
          <a:solidFill>
            <a:srgbClr val="0A314D">
              <a:alpha val="100000"/>
            </a:srgbClr>
          </a:solidFill>
          <a:ln w="25400" cap="flat" cmpd="sng">
            <a:noFill/>
            <a:prstDash val="solid"/>
            <a:round/>
          </a:ln>
          <a:effectLst>
            <a:outerShdw blurRad="190500" dist="76200" dir="5400000" algn="tl" rotWithShape="0">
              <a:srgbClr val="000000">
                <a:alpha val="12000"/>
              </a:srgbClr>
            </a:outerShdw>
          </a:effectLst>
        </p:spPr>
        <p:txBody>
          <a:bodyPr vert="horz" wrap="square" lIns="63500" tIns="63500" rIns="63500" bIns="63500" rtlCol="0" anchor="ctr"/>
          <a:lstStyle/>
          <a:p>
            <a:pPr algn="ctr">
              <a:defRPr/>
            </a:pPr>
          </a:p>
        </p:txBody>
      </p:sp>
      <p:sp>
        <p:nvSpPr>
          <p:cNvPr id="28" name="AutoShape 28"/>
          <p:cNvSpPr/>
          <p:nvPr/>
        </p:nvSpPr>
        <p:spPr>
          <a:xfrm>
            <a:off x="6350000" y="3492500"/>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Standardized JSON Response</a:t>
            </a:r>
            <a:endParaRPr lang="en-US" sz="1100"/>
          </a:p>
        </p:txBody>
      </p:sp>
      <p:sp>
        <p:nvSpPr>
          <p:cNvPr id="29" name="AutoShape 29"/>
          <p:cNvSpPr/>
          <p:nvPr/>
        </p:nvSpPr>
        <p:spPr>
          <a:xfrm>
            <a:off x="6350000" y="3937000"/>
            <a:ext cx="5080000" cy="1714500"/>
          </a:xfrm>
          <a:prstGeom prst="roundRect">
            <a:avLst>
              <a:gd name="adj" fmla="val 5925"/>
            </a:avLst>
          </a:prstGeom>
          <a:solidFill>
            <a:srgbClr val="F8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477000" y="4064000"/>
            <a:ext cx="4826000" cy="1460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endParaRPr lang="en-US" sz="1100"/>
          </a:p>
        </p:txBody>
      </p:sp>
      <p:pic>
        <p:nvPicPr>
          <p:cNvPr id="31" name="图片 30"/>
          <p:cNvPicPr>
            <a:picLocks noChangeAspect="1"/>
          </p:cNvPicPr>
          <p:nvPr/>
        </p:nvPicPr>
        <p:blipFill>
          <a:blip r:embed="rId9"/>
          <a:stretch>
            <a:fillRect/>
          </a:stretch>
        </p:blipFill>
        <p:spPr>
          <a:xfrm>
            <a:off x="6350000" y="1910715"/>
            <a:ext cx="5007610" cy="983615"/>
          </a:xfrm>
          <a:prstGeom prst="rect">
            <a:avLst/>
          </a:prstGeom>
        </p:spPr>
      </p:pic>
      <p:pic>
        <p:nvPicPr>
          <p:cNvPr id="32" name="图片 31"/>
          <p:cNvPicPr>
            <a:picLocks noChangeAspect="1"/>
          </p:cNvPicPr>
          <p:nvPr/>
        </p:nvPicPr>
        <p:blipFill>
          <a:blip r:embed="rId10"/>
          <a:stretch>
            <a:fillRect/>
          </a:stretch>
        </p:blipFill>
        <p:spPr>
          <a:xfrm>
            <a:off x="6350000" y="3937000"/>
            <a:ext cx="5007610" cy="17278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V4 Features: Polish &amp; Performance</a:t>
            </a:r>
            <a:endParaRPr lang="en-US" sz="1100"/>
          </a:p>
        </p:txBody>
      </p:sp>
      <p:sp>
        <p:nvSpPr>
          <p:cNvPr id="3" name="AutoShape 3"/>
          <p:cNvSpPr/>
          <p:nvPr/>
        </p:nvSpPr>
        <p:spPr>
          <a:xfrm>
            <a:off x="508000" y="1270000"/>
            <a:ext cx="5461000" cy="2413000"/>
          </a:xfrm>
          <a:prstGeom prst="roundRect">
            <a:avLst>
              <a:gd name="adj" fmla="val 8421"/>
            </a:avLst>
          </a:prstGeom>
          <a:solidFill>
            <a:srgbClr val="F0F5F9">
              <a:alpha val="100000"/>
            </a:srgbClr>
          </a:solidFill>
          <a:ln w="25400" cap="flat" cmpd="sng">
            <a:noFill/>
            <a:prstDash val="solid"/>
            <a:round/>
          </a:ln>
          <a:effectLst>
            <a:outerShdw blurRad="152400" dist="50800" dir="2700000" algn="tl" rotWithShape="0">
              <a:srgbClr val="0A314D">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587500"/>
            <a:ext cx="914400" cy="914400"/>
          </a:xfrm>
          <a:prstGeom prst="ellipse">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406400" cy="406400"/>
          </a:xfrm>
          <a:prstGeom prst="rect">
            <a:avLst/>
          </a:prstGeom>
        </p:spPr>
      </p:pic>
      <p:sp>
        <p:nvSpPr>
          <p:cNvPr id="6" name="AutoShape 6"/>
          <p:cNvSpPr/>
          <p:nvPr/>
        </p:nvSpPr>
        <p:spPr>
          <a:xfrm>
            <a:off x="1905000" y="1587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Full-Text Search</a:t>
            </a:r>
            <a:endParaRPr lang="en-US" sz="1100"/>
          </a:p>
        </p:txBody>
      </p:sp>
      <p:sp>
        <p:nvSpPr>
          <p:cNvPr id="7" name="AutoShape 7"/>
          <p:cNvSpPr/>
          <p:nvPr/>
        </p:nvSpPr>
        <p:spPr>
          <a:xfrm>
            <a:off x="1905000" y="2159000"/>
            <a:ext cx="3683000" cy="508000"/>
          </a:xfrm>
          <a:prstGeom prst="roundRect">
            <a:avLst>
              <a:gd name="adj" fmla="val 2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2032000" y="22606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Roboto Mono"/>
                <a:ea typeface="Roboto Mono"/>
                <a:cs typeface="Roboto Mono"/>
                <a:sym typeface="Roboto Mono"/>
              </a:rPr>
              <a:t>GET /books?search=harry</a:t>
            </a:r>
            <a:endParaRPr lang="en-US" sz="1100"/>
          </a:p>
        </p:txBody>
      </p:sp>
      <p:sp>
        <p:nvSpPr>
          <p:cNvPr id="9" name="AutoShape 9"/>
          <p:cNvSpPr/>
          <p:nvPr/>
        </p:nvSpPr>
        <p:spPr>
          <a:xfrm>
            <a:off x="1905000" y="2794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Enable efficient full-text search capabilities across book titles for quick and relevant content retrieval.</a:t>
            </a:r>
            <a:endParaRPr lang="en-US" sz="1100"/>
          </a:p>
        </p:txBody>
      </p:sp>
      <p:sp>
        <p:nvSpPr>
          <p:cNvPr id="10" name="AutoShape 10"/>
          <p:cNvSpPr/>
          <p:nvPr/>
        </p:nvSpPr>
        <p:spPr>
          <a:xfrm>
            <a:off x="6223000" y="1270000"/>
            <a:ext cx="5461000" cy="2413000"/>
          </a:xfrm>
          <a:prstGeom prst="roundRect">
            <a:avLst>
              <a:gd name="adj" fmla="val 8421"/>
            </a:avLst>
          </a:prstGeom>
          <a:solidFill>
            <a:srgbClr val="F0F5F9">
              <a:alpha val="100000"/>
            </a:srgbClr>
          </a:solidFill>
          <a:ln w="25400" cap="flat" cmpd="sng">
            <a:noFill/>
            <a:prstDash val="solid"/>
            <a:round/>
          </a:ln>
          <a:effectLst>
            <a:outerShdw blurRad="152400" dist="50800" dir="2700000" algn="tl" rotWithShape="0">
              <a:srgbClr val="0A314D">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6477000" y="1587500"/>
            <a:ext cx="914400" cy="914400"/>
          </a:xfrm>
          <a:prstGeom prst="ellipse">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1841500"/>
            <a:ext cx="406400" cy="406400"/>
          </a:xfrm>
          <a:prstGeom prst="rect">
            <a:avLst/>
          </a:prstGeom>
        </p:spPr>
      </p:pic>
      <p:sp>
        <p:nvSpPr>
          <p:cNvPr id="13" name="AutoShape 13"/>
          <p:cNvSpPr/>
          <p:nvPr/>
        </p:nvSpPr>
        <p:spPr>
          <a:xfrm>
            <a:off x="7620000" y="1587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Analytics &amp; Statistics</a:t>
            </a:r>
            <a:endParaRPr lang="en-US" sz="1100"/>
          </a:p>
        </p:txBody>
      </p:sp>
      <p:sp>
        <p:nvSpPr>
          <p:cNvPr id="14" name="AutoShape 14"/>
          <p:cNvSpPr/>
          <p:nvPr/>
        </p:nvSpPr>
        <p:spPr>
          <a:xfrm>
            <a:off x="7620000" y="2159000"/>
            <a:ext cx="3683000" cy="508000"/>
          </a:xfrm>
          <a:prstGeom prst="roundRect">
            <a:avLst>
              <a:gd name="adj" fmla="val 2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747000" y="22606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Roboto Mono"/>
                <a:ea typeface="Roboto Mono"/>
                <a:cs typeface="Roboto Mono"/>
                <a:sym typeface="Roboto Mono"/>
              </a:rPr>
              <a:t>GET /stats/average-rating</a:t>
            </a:r>
            <a:endParaRPr lang="en-US" sz="1100"/>
          </a:p>
        </p:txBody>
      </p:sp>
      <p:sp>
        <p:nvSpPr>
          <p:cNvPr id="16" name="AutoShape 16"/>
          <p:cNvSpPr/>
          <p:nvPr/>
        </p:nvSpPr>
        <p:spPr>
          <a:xfrm>
            <a:off x="7620000" y="2794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Calculate overall platform insights such as average book ratings to drive data-informed decisions.</a:t>
            </a:r>
            <a:endParaRPr lang="en-US" sz="1100"/>
          </a:p>
        </p:txBody>
      </p:sp>
      <p:sp>
        <p:nvSpPr>
          <p:cNvPr id="17" name="AutoShape 17"/>
          <p:cNvSpPr/>
          <p:nvPr/>
        </p:nvSpPr>
        <p:spPr>
          <a:xfrm>
            <a:off x="508000" y="3937000"/>
            <a:ext cx="5461000" cy="2413000"/>
          </a:xfrm>
          <a:prstGeom prst="roundRect">
            <a:avLst>
              <a:gd name="adj" fmla="val 8421"/>
            </a:avLst>
          </a:prstGeom>
          <a:solidFill>
            <a:srgbClr val="F0F5F9">
              <a:alpha val="100000"/>
            </a:srgbClr>
          </a:solidFill>
          <a:ln w="25400" cap="flat" cmpd="sng">
            <a:noFill/>
            <a:prstDash val="solid"/>
            <a:round/>
          </a:ln>
          <a:effectLst>
            <a:outerShdw blurRad="152400" dist="50800" dir="2700000" algn="tl" rotWithShape="0">
              <a:srgbClr val="0A314D">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762000" y="4254500"/>
            <a:ext cx="914400" cy="914400"/>
          </a:xfrm>
          <a:prstGeom prst="ellipse">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406400" cy="406400"/>
          </a:xfrm>
          <a:prstGeom prst="rect">
            <a:avLst/>
          </a:prstGeom>
        </p:spPr>
      </p:pic>
      <p:sp>
        <p:nvSpPr>
          <p:cNvPr id="20" name="AutoShape 20"/>
          <p:cNvSpPr/>
          <p:nvPr/>
        </p:nvSpPr>
        <p:spPr>
          <a:xfrm>
            <a:off x="1905000" y="425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API Security Layer</a:t>
            </a:r>
            <a:endParaRPr lang="en-US" sz="1100"/>
          </a:p>
        </p:txBody>
      </p:sp>
      <p:sp>
        <p:nvSpPr>
          <p:cNvPr id="21" name="AutoShape 21"/>
          <p:cNvSpPr/>
          <p:nvPr/>
        </p:nvSpPr>
        <p:spPr>
          <a:xfrm>
            <a:off x="1905000" y="4826000"/>
            <a:ext cx="3683000" cy="508000"/>
          </a:xfrm>
          <a:prstGeom prst="roundRect">
            <a:avLst>
              <a:gd name="adj" fmla="val 2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2032000" y="49276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Roboto Mono"/>
                <a:ea typeface="Roboto Mono"/>
                <a:cs typeface="Roboto Mono"/>
                <a:sym typeface="Roboto Mono"/>
              </a:rPr>
              <a:t>Auth via x-api-key Header</a:t>
            </a:r>
            <a:endParaRPr lang="en-US" sz="1100"/>
          </a:p>
        </p:txBody>
      </p:sp>
      <p:sp>
        <p:nvSpPr>
          <p:cNvPr id="23" name="AutoShape 23"/>
          <p:cNvSpPr/>
          <p:nvPr/>
        </p:nvSpPr>
        <p:spPr>
          <a:xfrm>
            <a:off x="1905000" y="5461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Secure all endpoints with robust API key authentication to ensure only authorized users can access data.</a:t>
            </a:r>
            <a:endParaRPr lang="en-US" sz="1100"/>
          </a:p>
        </p:txBody>
      </p:sp>
      <p:sp>
        <p:nvSpPr>
          <p:cNvPr id="24" name="AutoShape 24"/>
          <p:cNvSpPr/>
          <p:nvPr/>
        </p:nvSpPr>
        <p:spPr>
          <a:xfrm>
            <a:off x="6223000" y="3937000"/>
            <a:ext cx="5461000" cy="2413000"/>
          </a:xfrm>
          <a:prstGeom prst="roundRect">
            <a:avLst>
              <a:gd name="adj" fmla="val 8421"/>
            </a:avLst>
          </a:prstGeom>
          <a:solidFill>
            <a:srgbClr val="F0F5F9">
              <a:alpha val="100000"/>
            </a:srgbClr>
          </a:solidFill>
          <a:ln w="25400" cap="flat" cmpd="sng">
            <a:noFill/>
            <a:prstDash val="solid"/>
            <a:round/>
          </a:ln>
          <a:effectLst>
            <a:outerShdw blurRad="152400" dist="50800" dir="2700000" algn="tl" rotWithShape="0">
              <a:srgbClr val="0A314D">
                <a:alpha val="8000"/>
              </a:srgbClr>
            </a:outerShdw>
          </a:effectLst>
        </p:spPr>
        <p:txBody>
          <a:bodyPr vert="horz" wrap="square" lIns="63500" tIns="63500" rIns="63500" bIns="63500" rtlCol="0" anchor="ctr"/>
          <a:lstStyle/>
          <a:p>
            <a:pPr algn="ctr">
              <a:defRPr/>
            </a:pPr>
          </a:p>
        </p:txBody>
      </p:sp>
      <p:sp>
        <p:nvSpPr>
          <p:cNvPr id="25" name="AutoShape 25"/>
          <p:cNvSpPr/>
          <p:nvPr/>
        </p:nvSpPr>
        <p:spPr>
          <a:xfrm>
            <a:off x="6477000" y="4254500"/>
            <a:ext cx="914400" cy="914400"/>
          </a:xfrm>
          <a:prstGeom prst="ellipse">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4508500"/>
            <a:ext cx="406400" cy="406400"/>
          </a:xfrm>
          <a:prstGeom prst="rect">
            <a:avLst/>
          </a:prstGeom>
        </p:spPr>
      </p:pic>
      <p:sp>
        <p:nvSpPr>
          <p:cNvPr id="27" name="AutoShape 27"/>
          <p:cNvSpPr/>
          <p:nvPr/>
        </p:nvSpPr>
        <p:spPr>
          <a:xfrm>
            <a:off x="7620000" y="425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Request Logging</a:t>
            </a:r>
            <a:endParaRPr lang="en-US" sz="1100"/>
          </a:p>
        </p:txBody>
      </p:sp>
      <p:sp>
        <p:nvSpPr>
          <p:cNvPr id="28" name="AutoShape 28"/>
          <p:cNvSpPr/>
          <p:nvPr/>
        </p:nvSpPr>
        <p:spPr>
          <a:xfrm>
            <a:off x="7620000" y="4826000"/>
            <a:ext cx="3683000" cy="508000"/>
          </a:xfrm>
          <a:prstGeom prst="roundRect">
            <a:avLst>
              <a:gd name="adj" fmla="val 2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7747000" y="49276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Roboto Mono"/>
                <a:ea typeface="Roboto Mono"/>
                <a:cs typeface="Roboto Mono"/>
                <a:sym typeface="Roboto Mono"/>
              </a:rPr>
              <a:t>Middleware: Path, Status, Duration</a:t>
            </a:r>
            <a:endParaRPr lang="en-US" sz="1100"/>
          </a:p>
        </p:txBody>
      </p:sp>
      <p:sp>
        <p:nvSpPr>
          <p:cNvPr id="30" name="AutoShape 30"/>
          <p:cNvSpPr/>
          <p:nvPr/>
        </p:nvSpPr>
        <p:spPr>
          <a:xfrm>
            <a:off x="7620000" y="5461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Monitor system health with comprehensive logs capturing every request's path, status code, and response time.</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A314D"/>
                </a:solidFill>
                <a:latin typeface="Poppins"/>
                <a:ea typeface="Poppins"/>
                <a:cs typeface="Poppins"/>
                <a:sym typeface="Poppins"/>
              </a:rPr>
              <a:t>Testing Strategy</a:t>
            </a:r>
            <a:endParaRPr lang="en-US" sz="1100"/>
          </a:p>
        </p:txBody>
      </p:sp>
      <p:sp>
        <p:nvSpPr>
          <p:cNvPr id="3" name="AutoShape 3"/>
          <p:cNvSpPr/>
          <p:nvPr/>
        </p:nvSpPr>
        <p:spPr>
          <a:xfrm>
            <a:off x="508000" y="1270000"/>
            <a:ext cx="5461000" cy="1778000"/>
          </a:xfrm>
          <a:prstGeom prst="roundRect">
            <a:avLst>
              <a:gd name="adj" fmla="val 8571"/>
            </a:avLst>
          </a:prstGeom>
          <a:solidFill>
            <a:srgbClr val="F0F6FA">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508000" y="1270000"/>
            <a:ext cx="76200" cy="17780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0" cy="762000"/>
          </a:xfrm>
          <a:prstGeom prst="ellipse">
            <a:avLst/>
          </a:prstGeom>
          <a:solidFill>
            <a:srgbClr val="0A314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714500"/>
            <a:ext cx="381000" cy="381000"/>
          </a:xfrm>
          <a:prstGeom prst="rect">
            <a:avLst/>
          </a:prstGeom>
        </p:spPr>
      </p:pic>
      <p:sp>
        <p:nvSpPr>
          <p:cNvPr id="7" name="AutoShape 7"/>
          <p:cNvSpPr/>
          <p:nvPr/>
        </p:nvSpPr>
        <p:spPr>
          <a:xfrm>
            <a:off x="1778000" y="1524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Swagger UI</a:t>
            </a:r>
            <a:endParaRPr lang="en-US" sz="1100"/>
          </a:p>
        </p:txBody>
      </p:sp>
      <p:sp>
        <p:nvSpPr>
          <p:cNvPr id="8" name="AutoShape 8"/>
          <p:cNvSpPr/>
          <p:nvPr/>
        </p:nvSpPr>
        <p:spPr>
          <a:xfrm>
            <a:off x="1778000" y="2032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A built-in interactive tool for manual validation of all API endpoints, enabling real-time request/response testing.</a:t>
            </a:r>
            <a:endParaRPr lang="en-US" sz="1100"/>
          </a:p>
        </p:txBody>
      </p:sp>
      <p:sp>
        <p:nvSpPr>
          <p:cNvPr id="9" name="AutoShape 9"/>
          <p:cNvSpPr/>
          <p:nvPr/>
        </p:nvSpPr>
        <p:spPr>
          <a:xfrm>
            <a:off x="6223000" y="1270000"/>
            <a:ext cx="5461000" cy="1778000"/>
          </a:xfrm>
          <a:prstGeom prst="roundRect">
            <a:avLst>
              <a:gd name="adj" fmla="val 8571"/>
            </a:avLst>
          </a:prstGeom>
          <a:solidFill>
            <a:srgbClr val="F0F6FA">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6223000" y="1270000"/>
            <a:ext cx="76200" cy="1778000"/>
          </a:xfrm>
          <a:prstGeom prst="roundRect">
            <a:avLst>
              <a:gd name="adj" fmla="val 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1524000"/>
            <a:ext cx="762000" cy="762000"/>
          </a:xfrm>
          <a:prstGeom prst="ellipse">
            <a:avLst/>
          </a:prstGeom>
          <a:solidFill>
            <a:srgbClr val="0A314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1714500"/>
            <a:ext cx="381000" cy="381000"/>
          </a:xfrm>
          <a:prstGeom prst="rect">
            <a:avLst/>
          </a:prstGeom>
        </p:spPr>
      </p:pic>
      <p:sp>
        <p:nvSpPr>
          <p:cNvPr id="13" name="AutoShape 13"/>
          <p:cNvSpPr/>
          <p:nvPr/>
        </p:nvSpPr>
        <p:spPr>
          <a:xfrm>
            <a:off x="7493000" y="1524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Manual Test Guide</a:t>
            </a:r>
            <a:endParaRPr lang="en-US" sz="1100"/>
          </a:p>
        </p:txBody>
      </p:sp>
      <p:sp>
        <p:nvSpPr>
          <p:cNvPr id="14" name="AutoShape 14"/>
          <p:cNvSpPr/>
          <p:nvPr/>
        </p:nvSpPr>
        <p:spPr>
          <a:xfrm>
            <a:off x="7493000" y="2032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Poppins"/>
                <a:ea typeface="Poppins"/>
                <a:cs typeface="Poppins"/>
                <a:sym typeface="Poppins"/>
              </a:rPr>
              <a:t>Comprehensive documentation of step-by-step test cases for key business scenarios, ensuring reproducibility.</a:t>
            </a:r>
            <a:endParaRPr lang="en-US" sz="1100"/>
          </a:p>
        </p:txBody>
      </p:sp>
      <p:sp>
        <p:nvSpPr>
          <p:cNvPr id="15" name="AutoShape 15"/>
          <p:cNvSpPr/>
          <p:nvPr/>
        </p:nvSpPr>
        <p:spPr>
          <a:xfrm>
            <a:off x="508000" y="3429000"/>
            <a:ext cx="1117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A314D"/>
                </a:solidFill>
                <a:latin typeface="Poppins"/>
                <a:ea typeface="Poppins"/>
                <a:cs typeface="Poppins"/>
                <a:sym typeface="Poppins"/>
              </a:rPr>
              <a:t>Core Test Cases Coverage</a:t>
            </a:r>
            <a:endParaRPr lang="en-US" sz="1100"/>
          </a:p>
        </p:txBody>
      </p:sp>
      <p:sp>
        <p:nvSpPr>
          <p:cNvPr id="16" name="AutoShape 16"/>
          <p:cNvSpPr/>
          <p:nvPr/>
        </p:nvSpPr>
        <p:spPr>
          <a:xfrm>
            <a:off x="508000" y="4064000"/>
            <a:ext cx="2667000" cy="2032000"/>
          </a:xfrm>
          <a:prstGeom prst="roundRect">
            <a:avLst>
              <a:gd name="adj" fmla="val 7500"/>
            </a:avLst>
          </a:prstGeom>
          <a:solidFill>
            <a:srgbClr val="F5F8FC">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7" name="AutoShape 17"/>
          <p:cNvSpPr/>
          <p:nvPr/>
        </p:nvSpPr>
        <p:spPr>
          <a:xfrm>
            <a:off x="698500" y="4254500"/>
            <a:ext cx="609600" cy="609600"/>
          </a:xfrm>
          <a:prstGeom prst="ellipse">
            <a:avLst/>
          </a:prstGeom>
          <a:solidFill>
            <a:srgbClr val="0A314D">
              <a:alpha val="8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900" y="4406900"/>
            <a:ext cx="304800" cy="304800"/>
          </a:xfrm>
          <a:prstGeom prst="rect">
            <a:avLst/>
          </a:prstGeom>
        </p:spPr>
      </p:pic>
      <p:sp>
        <p:nvSpPr>
          <p:cNvPr id="19" name="AutoShape 19"/>
          <p:cNvSpPr/>
          <p:nvPr/>
        </p:nvSpPr>
        <p:spPr>
          <a:xfrm>
            <a:off x="1460500" y="4254500"/>
            <a:ext cx="1524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A314D"/>
                </a:solidFill>
                <a:latin typeface="Poppins"/>
                <a:ea typeface="Poppins"/>
                <a:cs typeface="Poppins"/>
                <a:sym typeface="Poppins"/>
              </a:rPr>
              <a:t>Authentication</a:t>
            </a:r>
            <a:br>
              <a:rPr lang="en-US" sz="1400" b="1" i="0" u="none" strike="noStrike">
                <a:solidFill>
                  <a:srgbClr val="0A314D"/>
                </a:solidFill>
                <a:latin typeface="Poppins"/>
                <a:ea typeface="Poppins"/>
                <a:cs typeface="Poppins"/>
                <a:sym typeface="Poppins"/>
              </a:rPr>
            </a:br>
            <a:r>
              <a:rPr lang="en-US" sz="1400" b="1" i="0" u="none" strike="noStrike">
                <a:solidFill>
                  <a:srgbClr val="0A314D"/>
                </a:solidFill>
                <a:latin typeface="Poppins"/>
                <a:ea typeface="Poppins"/>
                <a:cs typeface="Poppins"/>
                <a:sym typeface="Poppins"/>
              </a:rPr>
              <a:t>Failure</a:t>
            </a:r>
            <a:endParaRPr lang="en-US" sz="1100"/>
          </a:p>
        </p:txBody>
      </p:sp>
      <p:sp>
        <p:nvSpPr>
          <p:cNvPr id="20" name="AutoShape 20"/>
          <p:cNvSpPr/>
          <p:nvPr/>
        </p:nvSpPr>
        <p:spPr>
          <a:xfrm>
            <a:off x="698500" y="5016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Poppins"/>
                <a:ea typeface="Poppins"/>
                <a:cs typeface="Poppins"/>
                <a:sym typeface="Poppins"/>
              </a:rPr>
              <a:t>Verified 401 Unauthorized response for requests with invalid or missing API keys.</a:t>
            </a:r>
            <a:endParaRPr lang="en-US" sz="1100"/>
          </a:p>
        </p:txBody>
      </p:sp>
      <p:sp>
        <p:nvSpPr>
          <p:cNvPr id="21" name="AutoShape 21"/>
          <p:cNvSpPr/>
          <p:nvPr/>
        </p:nvSpPr>
        <p:spPr>
          <a:xfrm>
            <a:off x="3429000" y="4064000"/>
            <a:ext cx="2667000" cy="2032000"/>
          </a:xfrm>
          <a:prstGeom prst="roundRect">
            <a:avLst>
              <a:gd name="adj" fmla="val 7500"/>
            </a:avLst>
          </a:prstGeom>
          <a:solidFill>
            <a:srgbClr val="F5F8FC">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3619500" y="4254500"/>
            <a:ext cx="609600" cy="609600"/>
          </a:xfrm>
          <a:prstGeom prst="ellipse">
            <a:avLst/>
          </a:prstGeom>
          <a:solidFill>
            <a:srgbClr val="0A314D">
              <a:alpha val="8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71900" y="4406900"/>
            <a:ext cx="304800" cy="304800"/>
          </a:xfrm>
          <a:prstGeom prst="rect">
            <a:avLst/>
          </a:prstGeom>
        </p:spPr>
      </p:pic>
      <p:sp>
        <p:nvSpPr>
          <p:cNvPr id="24" name="AutoShape 24"/>
          <p:cNvSpPr/>
          <p:nvPr/>
        </p:nvSpPr>
        <p:spPr>
          <a:xfrm>
            <a:off x="4381500" y="4254500"/>
            <a:ext cx="1524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A314D"/>
                </a:solidFill>
                <a:latin typeface="Poppins"/>
                <a:ea typeface="Poppins"/>
                <a:cs typeface="Poppins"/>
                <a:sym typeface="Poppins"/>
              </a:rPr>
              <a:t>Input Validation</a:t>
            </a:r>
            <a:br>
              <a:rPr lang="en-US" sz="1400" b="1" i="0" u="none" strike="noStrike">
                <a:solidFill>
                  <a:srgbClr val="0A314D"/>
                </a:solidFill>
                <a:latin typeface="Poppins"/>
                <a:ea typeface="Poppins"/>
                <a:cs typeface="Poppins"/>
                <a:sym typeface="Poppins"/>
              </a:rPr>
            </a:br>
            <a:r>
              <a:rPr lang="en-US" sz="1400" b="1" i="0" u="none" strike="noStrike">
                <a:solidFill>
                  <a:srgbClr val="0A314D"/>
                </a:solidFill>
                <a:latin typeface="Poppins"/>
                <a:ea typeface="Poppins"/>
                <a:cs typeface="Poppins"/>
                <a:sym typeface="Poppins"/>
              </a:rPr>
              <a:t>Errors</a:t>
            </a:r>
            <a:endParaRPr lang="en-US" sz="1100"/>
          </a:p>
        </p:txBody>
      </p:sp>
      <p:sp>
        <p:nvSpPr>
          <p:cNvPr id="25" name="AutoShape 25"/>
          <p:cNvSpPr/>
          <p:nvPr/>
        </p:nvSpPr>
        <p:spPr>
          <a:xfrm>
            <a:off x="3619500" y="5016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Poppins"/>
                <a:ea typeface="Poppins"/>
                <a:cs typeface="Poppins"/>
                <a:sym typeface="Poppins"/>
              </a:rPr>
              <a:t>Validated 400 Bad Request handling for malformed JSON payloads and invalid data types.</a:t>
            </a:r>
            <a:endParaRPr lang="en-US" sz="1100"/>
          </a:p>
        </p:txBody>
      </p:sp>
      <p:sp>
        <p:nvSpPr>
          <p:cNvPr id="26" name="AutoShape 26"/>
          <p:cNvSpPr/>
          <p:nvPr/>
        </p:nvSpPr>
        <p:spPr>
          <a:xfrm>
            <a:off x="6350000" y="4064000"/>
            <a:ext cx="2667000" cy="2032000"/>
          </a:xfrm>
          <a:prstGeom prst="roundRect">
            <a:avLst>
              <a:gd name="adj" fmla="val 7500"/>
            </a:avLst>
          </a:prstGeom>
          <a:solidFill>
            <a:srgbClr val="F5F8FC">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7" name="AutoShape 27"/>
          <p:cNvSpPr/>
          <p:nvPr/>
        </p:nvSpPr>
        <p:spPr>
          <a:xfrm>
            <a:off x="6540500" y="4254500"/>
            <a:ext cx="609600" cy="609600"/>
          </a:xfrm>
          <a:prstGeom prst="ellipse">
            <a:avLst/>
          </a:prstGeom>
          <a:solidFill>
            <a:srgbClr val="0A314D">
              <a:alpha val="8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92900" y="4406900"/>
            <a:ext cx="304800" cy="304800"/>
          </a:xfrm>
          <a:prstGeom prst="rect">
            <a:avLst/>
          </a:prstGeom>
        </p:spPr>
      </p:pic>
      <p:sp>
        <p:nvSpPr>
          <p:cNvPr id="29" name="AutoShape 29"/>
          <p:cNvSpPr/>
          <p:nvPr/>
        </p:nvSpPr>
        <p:spPr>
          <a:xfrm>
            <a:off x="7302500" y="4254500"/>
            <a:ext cx="1524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A314D"/>
                </a:solidFill>
                <a:latin typeface="Poppins"/>
                <a:ea typeface="Poppins"/>
                <a:cs typeface="Poppins"/>
                <a:sym typeface="Poppins"/>
              </a:rPr>
              <a:t>Resource Not</a:t>
            </a:r>
            <a:br>
              <a:rPr lang="en-US" sz="1400" b="1" i="0" u="none" strike="noStrike">
                <a:solidFill>
                  <a:srgbClr val="0A314D"/>
                </a:solidFill>
                <a:latin typeface="Poppins"/>
                <a:ea typeface="Poppins"/>
                <a:cs typeface="Poppins"/>
                <a:sym typeface="Poppins"/>
              </a:rPr>
            </a:br>
            <a:r>
              <a:rPr lang="en-US" sz="1400" b="1" i="0" u="none" strike="noStrike">
                <a:solidFill>
                  <a:srgbClr val="0A314D"/>
                </a:solidFill>
                <a:latin typeface="Poppins"/>
                <a:ea typeface="Poppins"/>
                <a:cs typeface="Poppins"/>
                <a:sym typeface="Poppins"/>
              </a:rPr>
              <a:t>Found</a:t>
            </a:r>
            <a:endParaRPr lang="en-US" sz="1100"/>
          </a:p>
        </p:txBody>
      </p:sp>
      <p:sp>
        <p:nvSpPr>
          <p:cNvPr id="30" name="AutoShape 30"/>
          <p:cNvSpPr/>
          <p:nvPr/>
        </p:nvSpPr>
        <p:spPr>
          <a:xfrm>
            <a:off x="6540500" y="50165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Poppins"/>
                <a:ea typeface="Poppins"/>
                <a:cs typeface="Poppins"/>
                <a:sym typeface="Poppins"/>
              </a:rPr>
              <a:t>Tested 404 Not Found responses when accessing endpoints with non-existent book IDs.</a:t>
            </a:r>
            <a:endParaRPr lang="en-US" sz="1100"/>
          </a:p>
        </p:txBody>
      </p:sp>
      <p:sp>
        <p:nvSpPr>
          <p:cNvPr id="31" name="AutoShape 31"/>
          <p:cNvSpPr/>
          <p:nvPr/>
        </p:nvSpPr>
        <p:spPr>
          <a:xfrm>
            <a:off x="9271000" y="4064000"/>
            <a:ext cx="2413000" cy="2032000"/>
          </a:xfrm>
          <a:prstGeom prst="roundRect">
            <a:avLst>
              <a:gd name="adj" fmla="val 7500"/>
            </a:avLst>
          </a:prstGeom>
          <a:solidFill>
            <a:srgbClr val="F5F8FC">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32" name="AutoShape 32"/>
          <p:cNvSpPr/>
          <p:nvPr/>
        </p:nvSpPr>
        <p:spPr>
          <a:xfrm>
            <a:off x="9461500" y="4254500"/>
            <a:ext cx="609600" cy="609600"/>
          </a:xfrm>
          <a:prstGeom prst="ellipse">
            <a:avLst/>
          </a:prstGeom>
          <a:solidFill>
            <a:srgbClr val="0A314D">
              <a:alpha val="8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13900" y="4406900"/>
            <a:ext cx="304800" cy="304800"/>
          </a:xfrm>
          <a:prstGeom prst="rect">
            <a:avLst/>
          </a:prstGeom>
        </p:spPr>
      </p:pic>
      <p:sp>
        <p:nvSpPr>
          <p:cNvPr id="34" name="AutoShape 34"/>
          <p:cNvSpPr/>
          <p:nvPr/>
        </p:nvSpPr>
        <p:spPr>
          <a:xfrm>
            <a:off x="10223500" y="4254500"/>
            <a:ext cx="13335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A314D"/>
                </a:solidFill>
                <a:latin typeface="Poppins"/>
                <a:ea typeface="Poppins"/>
                <a:cs typeface="Poppins"/>
                <a:sym typeface="Poppins"/>
              </a:rPr>
              <a:t>Full CRUD</a:t>
            </a:r>
            <a:br>
              <a:rPr lang="en-US" sz="1400" b="1" i="0" u="none" strike="noStrike">
                <a:solidFill>
                  <a:srgbClr val="0A314D"/>
                </a:solidFill>
                <a:latin typeface="Poppins"/>
                <a:ea typeface="Poppins"/>
                <a:cs typeface="Poppins"/>
                <a:sym typeface="Poppins"/>
              </a:rPr>
            </a:br>
            <a:r>
              <a:rPr lang="en-US" sz="1400" b="1" i="0" u="none" strike="noStrike">
                <a:solidFill>
                  <a:srgbClr val="0A314D"/>
                </a:solidFill>
                <a:latin typeface="Poppins"/>
                <a:ea typeface="Poppins"/>
                <a:cs typeface="Poppins"/>
                <a:sym typeface="Poppins"/>
              </a:rPr>
              <a:t>Lifecycle</a:t>
            </a:r>
            <a:endParaRPr lang="en-US" sz="1100"/>
          </a:p>
        </p:txBody>
      </p:sp>
      <p:sp>
        <p:nvSpPr>
          <p:cNvPr id="35" name="AutoShape 35"/>
          <p:cNvSpPr/>
          <p:nvPr/>
        </p:nvSpPr>
        <p:spPr>
          <a:xfrm>
            <a:off x="9461500" y="5016500"/>
            <a:ext cx="2032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Poppins"/>
                <a:ea typeface="Poppins"/>
                <a:cs typeface="Poppins"/>
                <a:sym typeface="Poppins"/>
              </a:rPr>
              <a:t>End-to-end verification of Create, Read, Update, and Delete data flows.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81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A314D"/>
                </a:solidFill>
                <a:latin typeface="Poppins"/>
                <a:ea typeface="Poppins"/>
                <a:cs typeface="Poppins"/>
                <a:sym typeface="Poppins"/>
              </a:rPr>
              <a:t>Version Control: Iterative Development</a:t>
            </a:r>
            <a:endParaRPr lang="en-US" sz="1100"/>
          </a:p>
        </p:txBody>
      </p:sp>
      <p:sp>
        <p:nvSpPr>
          <p:cNvPr id="3" name="AutoShape 3"/>
          <p:cNvSpPr/>
          <p:nvPr/>
        </p:nvSpPr>
        <p:spPr>
          <a:xfrm>
            <a:off x="381000" y="1397000"/>
            <a:ext cx="2667000" cy="4572000"/>
          </a:xfrm>
          <a:prstGeom prst="roundRect">
            <a:avLst>
              <a:gd name="adj" fmla="val 4761"/>
            </a:avLst>
          </a:prstGeom>
          <a:solidFill>
            <a:srgbClr val="F1F5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381000" y="1397000"/>
            <a:ext cx="2667000" cy="1270000"/>
          </a:xfrm>
          <a:prstGeom prst="roundRect">
            <a:avLst>
              <a:gd name="adj" fmla="val 1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 y="1651000"/>
            <a:ext cx="508000" cy="508000"/>
          </a:xfrm>
          <a:prstGeom prst="rect">
            <a:avLst/>
          </a:prstGeom>
        </p:spPr>
      </p:pic>
      <p:sp>
        <p:nvSpPr>
          <p:cNvPr id="6" name="AutoShape 6"/>
          <p:cNvSpPr/>
          <p:nvPr/>
        </p:nvSpPr>
        <p:spPr>
          <a:xfrm>
            <a:off x="1270000" y="1587500"/>
            <a:ext cx="152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V1</a:t>
            </a:r>
            <a:endParaRPr lang="en-US" sz="1100"/>
          </a:p>
          <a:p>
            <a:pPr indent="0" algn="l">
              <a:lnSpc>
                <a:spcPct val="125000"/>
              </a:lnSpc>
            </a:pPr>
            <a:r>
              <a:rPr lang="en-US" sz="1600" b="0" i="0" u="none" strike="noStrike">
                <a:solidFill>
                  <a:srgbClr val="E2E8F0"/>
                </a:solidFill>
                <a:latin typeface="Poppins"/>
                <a:ea typeface="Poppins"/>
                <a:cs typeface="Poppins"/>
                <a:sym typeface="Poppins"/>
              </a:rPr>
              <a:t>MVP Phase</a:t>
            </a:r>
            <a:endParaRPr lang="en-US" sz="1600" b="0" i="0" u="none" strike="noStrike">
              <a:solidFill>
                <a:srgbClr val="E2E8F0"/>
              </a:solidFill>
              <a:latin typeface="Poppins"/>
              <a:ea typeface="Poppins"/>
              <a:cs typeface="Poppins"/>
              <a:sym typeface="Poppins"/>
            </a:endParaRPr>
          </a:p>
        </p:txBody>
      </p:sp>
      <p:sp>
        <p:nvSpPr>
          <p:cNvPr id="7" name="AutoShape 7"/>
          <p:cNvSpPr/>
          <p:nvPr/>
        </p:nvSpPr>
        <p:spPr>
          <a:xfrm>
            <a:off x="635000" y="292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Core Foundation</a:t>
            </a:r>
            <a:endParaRPr lang="en-US" sz="1100"/>
          </a:p>
        </p:txBody>
      </p:sp>
      <p:cxnSp>
        <p:nvCxnSpPr>
          <p:cNvPr id="8" name="Connector 8"/>
          <p:cNvCxnSpPr/>
          <p:nvPr/>
        </p:nvCxnSpPr>
        <p:spPr>
          <a:xfrm rot="-20221">
            <a:off x="635019" y="3422650"/>
            <a:ext cx="2159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9" name="AutoShape 9"/>
          <p:cNvSpPr/>
          <p:nvPr/>
        </p:nvSpPr>
        <p:spPr>
          <a:xfrm>
            <a:off x="635000" y="3683000"/>
            <a:ext cx="2159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25252"/>
                </a:solidFill>
                <a:latin typeface="Poppins"/>
                <a:ea typeface="Poppins"/>
                <a:cs typeface="Poppins"/>
                <a:sym typeface="Poppins"/>
              </a:rPr>
              <a:t>Established the basic project structure, defined the initial database schema model, and implemented the core CRUD API endpoints for data manipulation.</a:t>
            </a:r>
            <a:endParaRPr lang="en-US" sz="1100"/>
          </a:p>
        </p:txBody>
      </p:sp>
      <p:sp>
        <p:nvSpPr>
          <p:cNvPr id="10" name="AutoShape 10"/>
          <p:cNvSpPr/>
          <p:nvPr/>
        </p:nvSpPr>
        <p:spPr>
          <a:xfrm>
            <a:off x="3302000" y="1397000"/>
            <a:ext cx="2667000" cy="4572000"/>
          </a:xfrm>
          <a:prstGeom prst="roundRect">
            <a:avLst>
              <a:gd name="adj" fmla="val 4761"/>
            </a:avLst>
          </a:prstGeom>
          <a:solidFill>
            <a:srgbClr val="F1F5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3302000" y="1397000"/>
            <a:ext cx="2667000" cy="1270000"/>
          </a:xfrm>
          <a:prstGeom prst="roundRect">
            <a:avLst>
              <a:gd name="adj" fmla="val 1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1651000"/>
            <a:ext cx="508000" cy="508000"/>
          </a:xfrm>
          <a:prstGeom prst="rect">
            <a:avLst/>
          </a:prstGeom>
        </p:spPr>
      </p:pic>
      <p:sp>
        <p:nvSpPr>
          <p:cNvPr id="13" name="AutoShape 13"/>
          <p:cNvSpPr/>
          <p:nvPr/>
        </p:nvSpPr>
        <p:spPr>
          <a:xfrm>
            <a:off x="4191000" y="1587500"/>
            <a:ext cx="152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V2</a:t>
            </a:r>
            <a:endParaRPr lang="en-US" sz="1100"/>
          </a:p>
          <a:p>
            <a:pPr indent="0" algn="l">
              <a:lnSpc>
                <a:spcPct val="125000"/>
              </a:lnSpc>
            </a:pPr>
            <a:r>
              <a:rPr lang="en-US" sz="1600" b="0" i="0" u="none" strike="noStrike">
                <a:solidFill>
                  <a:srgbClr val="E2E8F0"/>
                </a:solidFill>
                <a:latin typeface="Poppins"/>
                <a:ea typeface="Poppins"/>
                <a:cs typeface="Poppins"/>
                <a:sym typeface="Poppins"/>
              </a:rPr>
              <a:t>Refinement</a:t>
            </a:r>
            <a:endParaRPr lang="en-US" sz="1600" b="0" i="0" u="none" strike="noStrike">
              <a:solidFill>
                <a:srgbClr val="E2E8F0"/>
              </a:solidFill>
              <a:latin typeface="Poppins"/>
              <a:ea typeface="Poppins"/>
              <a:cs typeface="Poppins"/>
              <a:sym typeface="Poppins"/>
            </a:endParaRPr>
          </a:p>
        </p:txBody>
      </p:sp>
      <p:sp>
        <p:nvSpPr>
          <p:cNvPr id="14" name="AutoShape 14"/>
          <p:cNvSpPr/>
          <p:nvPr/>
        </p:nvSpPr>
        <p:spPr>
          <a:xfrm>
            <a:off x="3556000" y="292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Robustness &amp; Safety</a:t>
            </a:r>
            <a:endParaRPr lang="en-US" sz="1100"/>
          </a:p>
        </p:txBody>
      </p:sp>
      <p:cxnSp>
        <p:nvCxnSpPr>
          <p:cNvPr id="15" name="Connector 15"/>
          <p:cNvCxnSpPr/>
          <p:nvPr/>
        </p:nvCxnSpPr>
        <p:spPr>
          <a:xfrm rot="-20221">
            <a:off x="3556019" y="3422650"/>
            <a:ext cx="2159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16" name="AutoShape 16"/>
          <p:cNvSpPr/>
          <p:nvPr/>
        </p:nvSpPr>
        <p:spPr>
          <a:xfrm>
            <a:off x="3556000" y="3683000"/>
            <a:ext cx="2159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25252"/>
                </a:solidFill>
                <a:latin typeface="Poppins"/>
                <a:ea typeface="Poppins"/>
                <a:cs typeface="Poppins"/>
                <a:sym typeface="Poppins"/>
              </a:rPr>
              <a:t>Significantly improved API reliability by adding comprehensive error handling logic, standardized HTTP status codes, and strict input validation for all requests.</a:t>
            </a:r>
            <a:endParaRPr lang="en-US" sz="1100"/>
          </a:p>
        </p:txBody>
      </p:sp>
      <p:sp>
        <p:nvSpPr>
          <p:cNvPr id="17" name="AutoShape 17"/>
          <p:cNvSpPr/>
          <p:nvPr/>
        </p:nvSpPr>
        <p:spPr>
          <a:xfrm>
            <a:off x="6223000" y="1397000"/>
            <a:ext cx="2667000" cy="4572000"/>
          </a:xfrm>
          <a:prstGeom prst="roundRect">
            <a:avLst>
              <a:gd name="adj" fmla="val 4761"/>
            </a:avLst>
          </a:prstGeom>
          <a:solidFill>
            <a:srgbClr val="F1F5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6223000" y="1397000"/>
            <a:ext cx="2667000" cy="1270000"/>
          </a:xfrm>
          <a:prstGeom prst="roundRect">
            <a:avLst>
              <a:gd name="adj" fmla="val 1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651000"/>
            <a:ext cx="508000" cy="508000"/>
          </a:xfrm>
          <a:prstGeom prst="rect">
            <a:avLst/>
          </a:prstGeom>
        </p:spPr>
      </p:pic>
      <p:sp>
        <p:nvSpPr>
          <p:cNvPr id="20" name="AutoShape 20"/>
          <p:cNvSpPr/>
          <p:nvPr/>
        </p:nvSpPr>
        <p:spPr>
          <a:xfrm>
            <a:off x="7112000" y="1587500"/>
            <a:ext cx="152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V3</a:t>
            </a:r>
            <a:endParaRPr lang="en-US" sz="1100"/>
          </a:p>
          <a:p>
            <a:pPr indent="0" algn="l">
              <a:lnSpc>
                <a:spcPct val="125000"/>
              </a:lnSpc>
            </a:pPr>
            <a:r>
              <a:rPr lang="en-US" sz="1600" b="0" i="0" u="none" strike="noStrike">
                <a:solidFill>
                  <a:srgbClr val="E2E8F0"/>
                </a:solidFill>
                <a:latin typeface="Poppins"/>
                <a:ea typeface="Poppins"/>
                <a:cs typeface="Poppins"/>
                <a:sym typeface="Poppins"/>
              </a:rPr>
              <a:t>Advanced Query</a:t>
            </a:r>
            <a:endParaRPr lang="en-US" sz="1600" b="0" i="0" u="none" strike="noStrike">
              <a:solidFill>
                <a:srgbClr val="E2E8F0"/>
              </a:solidFill>
              <a:latin typeface="Poppins"/>
              <a:ea typeface="Poppins"/>
              <a:cs typeface="Poppins"/>
              <a:sym typeface="Poppins"/>
            </a:endParaRPr>
          </a:p>
        </p:txBody>
      </p:sp>
      <p:sp>
        <p:nvSpPr>
          <p:cNvPr id="21" name="AutoShape 21"/>
          <p:cNvSpPr/>
          <p:nvPr/>
        </p:nvSpPr>
        <p:spPr>
          <a:xfrm>
            <a:off x="6477000" y="292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Data Manipulation</a:t>
            </a:r>
            <a:endParaRPr lang="en-US" sz="1100"/>
          </a:p>
        </p:txBody>
      </p:sp>
      <p:cxnSp>
        <p:nvCxnSpPr>
          <p:cNvPr id="22" name="Connector 22"/>
          <p:cNvCxnSpPr/>
          <p:nvPr/>
        </p:nvCxnSpPr>
        <p:spPr>
          <a:xfrm rot="-20221">
            <a:off x="6477019" y="3422650"/>
            <a:ext cx="2159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23" name="AutoShape 23"/>
          <p:cNvSpPr/>
          <p:nvPr/>
        </p:nvSpPr>
        <p:spPr>
          <a:xfrm>
            <a:off x="6477000" y="3683000"/>
            <a:ext cx="2159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25252"/>
                </a:solidFill>
                <a:latin typeface="Poppins"/>
                <a:ea typeface="Poppins"/>
                <a:cs typeface="Poppins"/>
                <a:sym typeface="Poppins"/>
              </a:rPr>
              <a:t>Implemented essential data management features including result pagination, dynamic filtering capabilities, and multi-criteria sorting to handle large datasets efficiently.</a:t>
            </a:r>
            <a:endParaRPr lang="en-US" sz="1100"/>
          </a:p>
        </p:txBody>
      </p:sp>
      <p:sp>
        <p:nvSpPr>
          <p:cNvPr id="24" name="AutoShape 24"/>
          <p:cNvSpPr/>
          <p:nvPr/>
        </p:nvSpPr>
        <p:spPr>
          <a:xfrm>
            <a:off x="9144000" y="1397000"/>
            <a:ext cx="2667000" cy="4572000"/>
          </a:xfrm>
          <a:prstGeom prst="roundRect">
            <a:avLst>
              <a:gd name="adj" fmla="val 4761"/>
            </a:avLst>
          </a:prstGeom>
          <a:solidFill>
            <a:srgbClr val="F1F5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5" name="AutoShape 25"/>
          <p:cNvSpPr/>
          <p:nvPr/>
        </p:nvSpPr>
        <p:spPr>
          <a:xfrm>
            <a:off x="9144000" y="1397000"/>
            <a:ext cx="2667000" cy="1270000"/>
          </a:xfrm>
          <a:prstGeom prst="roundRect">
            <a:avLst>
              <a:gd name="adj" fmla="val 10000"/>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98000" y="1651000"/>
            <a:ext cx="508000" cy="508000"/>
          </a:xfrm>
          <a:prstGeom prst="rect">
            <a:avLst/>
          </a:prstGeom>
        </p:spPr>
      </p:pic>
      <p:sp>
        <p:nvSpPr>
          <p:cNvPr id="27" name="AutoShape 27"/>
          <p:cNvSpPr/>
          <p:nvPr/>
        </p:nvSpPr>
        <p:spPr>
          <a:xfrm>
            <a:off x="10033000" y="1587500"/>
            <a:ext cx="152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V4</a:t>
            </a:r>
            <a:endParaRPr lang="en-US" sz="1100"/>
          </a:p>
          <a:p>
            <a:pPr indent="0" algn="l">
              <a:lnSpc>
                <a:spcPct val="125000"/>
              </a:lnSpc>
            </a:pPr>
            <a:r>
              <a:rPr lang="en-US" sz="1600" b="0" i="0" u="none" strike="noStrike">
                <a:solidFill>
                  <a:srgbClr val="E2E8F0"/>
                </a:solidFill>
                <a:latin typeface="Poppins"/>
                <a:ea typeface="Poppins"/>
                <a:cs typeface="Poppins"/>
                <a:sym typeface="Poppins"/>
              </a:rPr>
              <a:t>Polish &amp; Scale</a:t>
            </a:r>
            <a:endParaRPr lang="en-US" sz="1600" b="0" i="0" u="none" strike="noStrike">
              <a:solidFill>
                <a:srgbClr val="E2E8F0"/>
              </a:solidFill>
              <a:latin typeface="Poppins"/>
              <a:ea typeface="Poppins"/>
              <a:cs typeface="Poppins"/>
              <a:sym typeface="Poppins"/>
            </a:endParaRPr>
          </a:p>
        </p:txBody>
      </p:sp>
      <p:sp>
        <p:nvSpPr>
          <p:cNvPr id="28" name="AutoShape 28"/>
          <p:cNvSpPr/>
          <p:nvPr/>
        </p:nvSpPr>
        <p:spPr>
          <a:xfrm>
            <a:off x="9398000" y="292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Optimization &amp; Audit</a:t>
            </a:r>
            <a:endParaRPr lang="en-US" sz="1100"/>
          </a:p>
        </p:txBody>
      </p:sp>
      <p:cxnSp>
        <p:nvCxnSpPr>
          <p:cNvPr id="29" name="Connector 29"/>
          <p:cNvCxnSpPr/>
          <p:nvPr/>
        </p:nvCxnSpPr>
        <p:spPr>
          <a:xfrm rot="-20221">
            <a:off x="9398019" y="3422650"/>
            <a:ext cx="2159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0" name="AutoShape 30"/>
          <p:cNvSpPr/>
          <p:nvPr/>
        </p:nvSpPr>
        <p:spPr>
          <a:xfrm>
            <a:off x="9398000" y="3683000"/>
            <a:ext cx="2159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25252"/>
                </a:solidFill>
                <a:latin typeface="Poppins"/>
                <a:ea typeface="Poppins"/>
                <a:cs typeface="Poppins"/>
                <a:sym typeface="Poppins"/>
              </a:rPr>
              <a:t>Added full-text search, usage statistics, API key authentication, comprehensive logging, and database indexes for optimal performance and security.</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4445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A314D"/>
                </a:solidFill>
                <a:latin typeface="Poppins"/>
                <a:ea typeface="Poppins"/>
                <a:cs typeface="Poppins"/>
                <a:sym typeface="Poppins"/>
              </a:rPr>
              <a:t>Deliverables</a:t>
            </a:r>
            <a:endParaRPr lang="en-US" sz="1100"/>
          </a:p>
        </p:txBody>
      </p:sp>
      <p:sp>
        <p:nvSpPr>
          <p:cNvPr id="3" name="AutoShape 3"/>
          <p:cNvSpPr/>
          <p:nvPr/>
        </p:nvSpPr>
        <p:spPr>
          <a:xfrm>
            <a:off x="1397000" y="1397000"/>
            <a:ext cx="4445000" cy="1651000"/>
          </a:xfrm>
          <a:prstGeom prst="roundRect">
            <a:avLst>
              <a:gd name="adj" fmla="val 9230"/>
            </a:avLst>
          </a:prstGeom>
          <a:solidFill>
            <a:srgbClr val="F1F5F9">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651000" y="1714500"/>
            <a:ext cx="1016000" cy="1016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05000" y="1968500"/>
            <a:ext cx="508000" cy="508000"/>
          </a:xfrm>
          <a:prstGeom prst="rect">
            <a:avLst/>
          </a:prstGeom>
        </p:spPr>
      </p:pic>
      <p:sp>
        <p:nvSpPr>
          <p:cNvPr id="6" name="AutoShape 6"/>
          <p:cNvSpPr/>
          <p:nvPr/>
        </p:nvSpPr>
        <p:spPr>
          <a:xfrm>
            <a:off x="2921000" y="1651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GitHub Repository</a:t>
            </a:r>
            <a:endParaRPr lang="en-US" sz="1100"/>
          </a:p>
        </p:txBody>
      </p:sp>
      <p:sp>
        <p:nvSpPr>
          <p:cNvPr id="7" name="AutoShape 7"/>
          <p:cNvSpPr/>
          <p:nvPr/>
        </p:nvSpPr>
        <p:spPr>
          <a:xfrm>
            <a:off x="2921000" y="2159000"/>
            <a:ext cx="2667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25252"/>
                </a:solidFill>
                <a:latin typeface="Poppins"/>
                <a:ea typeface="Poppins"/>
                <a:cs typeface="Poppins"/>
                <a:sym typeface="Poppins"/>
              </a:rPr>
              <a:t>Contains all source code and a detailed README file for reference.</a:t>
            </a:r>
            <a:endParaRPr lang="en-US" sz="1100"/>
          </a:p>
        </p:txBody>
      </p:sp>
      <p:sp>
        <p:nvSpPr>
          <p:cNvPr id="8" name="AutoShape 8"/>
          <p:cNvSpPr/>
          <p:nvPr/>
        </p:nvSpPr>
        <p:spPr>
          <a:xfrm>
            <a:off x="6350000" y="1397000"/>
            <a:ext cx="4445000" cy="1651000"/>
          </a:xfrm>
          <a:prstGeom prst="roundRect">
            <a:avLst>
              <a:gd name="adj" fmla="val 9230"/>
            </a:avLst>
          </a:prstGeom>
          <a:solidFill>
            <a:srgbClr val="F1F5F9">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6604000" y="1714500"/>
            <a:ext cx="1016000" cy="1016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0" y="1968500"/>
            <a:ext cx="508000" cy="508000"/>
          </a:xfrm>
          <a:prstGeom prst="rect">
            <a:avLst/>
          </a:prstGeom>
        </p:spPr>
      </p:pic>
      <p:sp>
        <p:nvSpPr>
          <p:cNvPr id="11" name="AutoShape 11"/>
          <p:cNvSpPr/>
          <p:nvPr/>
        </p:nvSpPr>
        <p:spPr>
          <a:xfrm>
            <a:off x="7874000" y="1651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API Documentation</a:t>
            </a:r>
            <a:endParaRPr lang="en-US" sz="1100"/>
          </a:p>
        </p:txBody>
      </p:sp>
      <p:sp>
        <p:nvSpPr>
          <p:cNvPr id="12" name="AutoShape 12"/>
          <p:cNvSpPr/>
          <p:nvPr/>
        </p:nvSpPr>
        <p:spPr>
          <a:xfrm>
            <a:off x="7874000" y="2159000"/>
            <a:ext cx="2667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25252"/>
                </a:solidFill>
                <a:latin typeface="Poppins"/>
                <a:ea typeface="Poppins"/>
                <a:cs typeface="Poppins"/>
                <a:sym typeface="Poppins"/>
              </a:rPr>
              <a:t>A comprehensive PDF document outlining all endpoints, parameters, and responses.</a:t>
            </a:r>
            <a:endParaRPr lang="en-US" sz="1100"/>
          </a:p>
        </p:txBody>
      </p:sp>
      <p:sp>
        <p:nvSpPr>
          <p:cNvPr id="13" name="AutoShape 13"/>
          <p:cNvSpPr/>
          <p:nvPr/>
        </p:nvSpPr>
        <p:spPr>
          <a:xfrm>
            <a:off x="1397000" y="3429000"/>
            <a:ext cx="4445000" cy="1651000"/>
          </a:xfrm>
          <a:prstGeom prst="roundRect">
            <a:avLst>
              <a:gd name="adj" fmla="val 9230"/>
            </a:avLst>
          </a:prstGeom>
          <a:solidFill>
            <a:srgbClr val="F1F5F9">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1651000" y="3746500"/>
            <a:ext cx="1016000" cy="1016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05000" y="4000500"/>
            <a:ext cx="508000" cy="508000"/>
          </a:xfrm>
          <a:prstGeom prst="rect">
            <a:avLst/>
          </a:prstGeom>
        </p:spPr>
      </p:pic>
      <p:sp>
        <p:nvSpPr>
          <p:cNvPr id="16" name="AutoShape 16"/>
          <p:cNvSpPr/>
          <p:nvPr/>
        </p:nvSpPr>
        <p:spPr>
          <a:xfrm>
            <a:off x="2921000" y="3683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Technical Report</a:t>
            </a:r>
            <a:endParaRPr lang="en-US" sz="1100"/>
          </a:p>
        </p:txBody>
      </p:sp>
      <p:sp>
        <p:nvSpPr>
          <p:cNvPr id="17" name="AutoShape 17"/>
          <p:cNvSpPr/>
          <p:nvPr/>
        </p:nvSpPr>
        <p:spPr>
          <a:xfrm>
            <a:off x="2921000" y="4191000"/>
            <a:ext cx="2667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25252"/>
                </a:solidFill>
                <a:latin typeface="Poppins"/>
                <a:ea typeface="Poppins"/>
                <a:cs typeface="Poppins"/>
                <a:sym typeface="Poppins"/>
              </a:rPr>
              <a:t>Detailed analysis of the system architecture, technical challenges, and AI model usage.</a:t>
            </a:r>
            <a:endParaRPr lang="en-US" sz="1100"/>
          </a:p>
        </p:txBody>
      </p:sp>
      <p:sp>
        <p:nvSpPr>
          <p:cNvPr id="18" name="AutoShape 18"/>
          <p:cNvSpPr/>
          <p:nvPr/>
        </p:nvSpPr>
        <p:spPr>
          <a:xfrm>
            <a:off x="6350000" y="3429000"/>
            <a:ext cx="4445000" cy="1651000"/>
          </a:xfrm>
          <a:prstGeom prst="roundRect">
            <a:avLst>
              <a:gd name="adj" fmla="val 9230"/>
            </a:avLst>
          </a:prstGeom>
          <a:solidFill>
            <a:srgbClr val="F1F5F9">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9" name="AutoShape 19"/>
          <p:cNvSpPr/>
          <p:nvPr/>
        </p:nvSpPr>
        <p:spPr>
          <a:xfrm>
            <a:off x="6604000" y="3746500"/>
            <a:ext cx="1016000" cy="1016000"/>
          </a:xfrm>
          <a:prstGeom prst="ellipse">
            <a:avLst/>
          </a:prstGeom>
          <a:solidFill>
            <a:srgbClr val="0A314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58000" y="4000500"/>
            <a:ext cx="508000" cy="508000"/>
          </a:xfrm>
          <a:prstGeom prst="rect">
            <a:avLst/>
          </a:prstGeom>
        </p:spPr>
      </p:pic>
      <p:sp>
        <p:nvSpPr>
          <p:cNvPr id="21" name="AutoShape 21"/>
          <p:cNvSpPr/>
          <p:nvPr/>
        </p:nvSpPr>
        <p:spPr>
          <a:xfrm>
            <a:off x="7874000" y="3683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A314D"/>
                </a:solidFill>
                <a:latin typeface="Poppins"/>
                <a:ea typeface="Poppins"/>
                <a:cs typeface="Poppins"/>
                <a:sym typeface="Poppins"/>
              </a:rPr>
              <a:t>How to Run Guide</a:t>
            </a:r>
            <a:endParaRPr lang="en-US" sz="1100"/>
          </a:p>
        </p:txBody>
      </p:sp>
      <p:sp>
        <p:nvSpPr>
          <p:cNvPr id="22" name="AutoShape 22"/>
          <p:cNvSpPr/>
          <p:nvPr/>
        </p:nvSpPr>
        <p:spPr>
          <a:xfrm>
            <a:off x="7874000" y="4191000"/>
            <a:ext cx="2667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25252"/>
                </a:solidFill>
                <a:latin typeface="Poppins"/>
                <a:ea typeface="Poppins"/>
                <a:cs typeface="Poppins"/>
                <a:sym typeface="Poppins"/>
              </a:rPr>
              <a:t>Step-by-step setup instructions in the README for local execution and testing.</a:t>
            </a:r>
            <a:endParaRPr lang="en-US" sz="1100"/>
          </a:p>
        </p:txBody>
      </p:sp>
      <p:sp>
        <p:nvSpPr>
          <p:cNvPr id="23" name="AutoShape 23"/>
          <p:cNvSpPr/>
          <p:nvPr/>
        </p:nvSpPr>
        <p:spPr>
          <a:xfrm>
            <a:off x="0" y="5588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A314D"/>
                </a:solidFill>
                <a:latin typeface="Poppins"/>
                <a:ea typeface="Poppins"/>
                <a:cs typeface="Poppins"/>
                <a:sym typeface="Poppins"/>
              </a:rPr>
              <a:t>Thank You &amp; Q&amp;A</a:t>
            </a:r>
            <a:endParaRPr lang="en-US" sz="1100"/>
          </a:p>
        </p:txBody>
      </p:sp>
      <p:pic>
        <p:nvPicPr>
          <p:cNvPr id="24" name="Picture 24"/>
          <p:cNvPicPr>
            <a:picLocks noChangeAspect="1"/>
          </p:cNvPicPr>
          <p:nvPr/>
        </p:nvPicPr>
        <p:blipFill>
          <a:blip r:embed="rId9"/>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7011</Words>
  <Application>WPS 演示</Application>
  <PresentationFormat/>
  <Paragraphs>317</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12</vt:i4>
      </vt:variant>
    </vt:vector>
  </HeadingPairs>
  <TitlesOfParts>
    <vt:vector size="27" baseType="lpstr">
      <vt:lpstr>Arial</vt:lpstr>
      <vt:lpstr>宋体</vt:lpstr>
      <vt:lpstr>Wingdings</vt:lpstr>
      <vt:lpstr>Arial</vt:lpstr>
      <vt:lpstr>Poppins</vt:lpstr>
      <vt:lpstr>Liberation Mono</vt:lpstr>
      <vt:lpstr>Source Code Pro</vt:lpstr>
      <vt:lpstr>Roboto Mono</vt:lpstr>
      <vt:lpstr>微软雅黑</vt:lpstr>
      <vt:lpstr>Arial Unicode MS</vt:lpstr>
      <vt:lpstr>Poppins</vt:lpstr>
      <vt:lpstr>Roboto Mono</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g坛玖朴躺豆</cp:lastModifiedBy>
  <cp:revision>2</cp:revision>
  <dcterms:created xsi:type="dcterms:W3CDTF">2026-04-19T15:26:43Z</dcterms:created>
  <dcterms:modified xsi:type="dcterms:W3CDTF">2026-04-19T15:30:50Z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F0C09EA81829410880E755DD5DA018ED_12</vt:lpwstr>
  </property>
  <property fmtid="{D5CDD505-2E9C-101B-9397-08002B2CF9AE}" pid="3" name="KSOProductBuildVer">
    <vt:lpwstr>2052-12.1.0.25865</vt:lpwstr>
  </property>
</Properties>
</file>